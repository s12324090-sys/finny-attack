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1" r:id="rId3"/>
    <p:sldId id="262" r:id="rId4"/>
    <p:sldId id="263" r:id="rId5"/>
    <p:sldId id="264" r:id="rId6"/>
    <p:sldId id="265" r:id="rId7"/>
    <p:sldId id="266" r:id="rId8"/>
    <p:sldId id="267" r:id="rId9"/>
    <p:sldId id="268" r:id="rId10"/>
    <p:sldId id="269" r:id="rId11"/>
    <p:sldId id="270" r:id="rId12"/>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A5D7"/>
    <a:srgbClr val="3B1F45"/>
    <a:srgbClr val="341C3C"/>
    <a:srgbClr val="D09E00"/>
    <a:srgbClr val="F2DD44"/>
    <a:srgbClr val="E6D4EC"/>
    <a:srgbClr val="2A1731"/>
    <a:srgbClr val="3D2147"/>
    <a:srgbClr val="D9C0E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49" autoAdjust="0"/>
    <p:restoredTop sz="94660"/>
  </p:normalViewPr>
  <p:slideViewPr>
    <p:cSldViewPr snapToGrid="0">
      <p:cViewPr varScale="1">
        <p:scale>
          <a:sx n="66" d="100"/>
          <a:sy n="66" d="100"/>
        </p:scale>
        <p:origin x="97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7067F438-9B01-4502-BCA1-9C62B52F5008}" type="datetimeFigureOut">
              <a:rPr lang="ar-SA" smtClean="0"/>
              <a:t>28/10/47</a:t>
            </a:fld>
            <a:endParaRPr lang="ar-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4DEBD703-9BB8-4F36-977B-451DF53B060D}" type="slidenum">
              <a:rPr lang="ar-SA" smtClean="0"/>
              <a:t>‹#›</a:t>
            </a:fld>
            <a:endParaRPr lang="ar-SA"/>
          </a:p>
        </p:txBody>
      </p:sp>
    </p:spTree>
    <p:extLst>
      <p:ext uri="{BB962C8B-B14F-4D97-AF65-F5344CB8AC3E}">
        <p14:creationId xmlns:p14="http://schemas.microsoft.com/office/powerpoint/2010/main" val="1649506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CBAE-2876-4370-84A8-6B8D0D4D8E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SA"/>
          </a:p>
        </p:txBody>
      </p:sp>
      <p:sp>
        <p:nvSpPr>
          <p:cNvPr id="3" name="Subtitle 2">
            <a:extLst>
              <a:ext uri="{FF2B5EF4-FFF2-40B4-BE49-F238E27FC236}">
                <a16:creationId xmlns:a16="http://schemas.microsoft.com/office/drawing/2014/main" id="{C5B23C63-7F23-4899-A5C7-253EC41686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SA"/>
          </a:p>
        </p:txBody>
      </p:sp>
      <p:sp>
        <p:nvSpPr>
          <p:cNvPr id="4" name="Date Placeholder 3">
            <a:extLst>
              <a:ext uri="{FF2B5EF4-FFF2-40B4-BE49-F238E27FC236}">
                <a16:creationId xmlns:a16="http://schemas.microsoft.com/office/drawing/2014/main" id="{DCFE6BEF-060F-4181-89B4-167745DFDAED}"/>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7ED9102D-B039-4B16-AEC2-1D1153FC397A}"/>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700C1386-79E9-4704-A19C-DACA90EFDF12}"/>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397285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2E35-D5CC-47B8-9344-FBFDF9760716}"/>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4E4E05FD-3277-49BD-8637-3868923FDC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86661402-D050-473F-AD75-B60BB07388F6}"/>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BEB1EA01-4C1E-48A5-ACC0-BF1F06CC8A85}"/>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2DF02022-AE11-4AB0-A55B-90AAB79FC47F}"/>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1046639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A69A4-79AC-4201-BE53-6BC6D2211F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SA"/>
          </a:p>
        </p:txBody>
      </p:sp>
      <p:sp>
        <p:nvSpPr>
          <p:cNvPr id="3" name="Text Placeholder 2">
            <a:extLst>
              <a:ext uri="{FF2B5EF4-FFF2-40B4-BE49-F238E27FC236}">
                <a16:creationId xmlns:a16="http://schemas.microsoft.com/office/drawing/2014/main" id="{4410B947-8A01-414F-AACB-F66C06A89B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80052A-B7BC-434E-B285-3D849E6B8861}"/>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5F69AAD9-B003-4AD4-A355-9BB10F5744B4}"/>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311DA2A0-1B94-44DB-8320-F4F45CB19B0A}"/>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2030030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5BD8D-EE64-4D29-BE02-10D404192AD6}"/>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DD407ADE-723B-4153-BE72-7ECF51442B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Content Placeholder 3">
            <a:extLst>
              <a:ext uri="{FF2B5EF4-FFF2-40B4-BE49-F238E27FC236}">
                <a16:creationId xmlns:a16="http://schemas.microsoft.com/office/drawing/2014/main" id="{032AB590-963D-4AD8-9F9C-F660B9538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Date Placeholder 4">
            <a:extLst>
              <a:ext uri="{FF2B5EF4-FFF2-40B4-BE49-F238E27FC236}">
                <a16:creationId xmlns:a16="http://schemas.microsoft.com/office/drawing/2014/main" id="{68908B45-723B-40F0-966A-FF063DC4434B}"/>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6" name="Footer Placeholder 5">
            <a:extLst>
              <a:ext uri="{FF2B5EF4-FFF2-40B4-BE49-F238E27FC236}">
                <a16:creationId xmlns:a16="http://schemas.microsoft.com/office/drawing/2014/main" id="{F2654A00-38CE-4C5F-AC9E-4EE3B65A6817}"/>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4518C713-85E1-4B34-B8B2-F561A5F899A8}"/>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427916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DCAF-90B8-4305-A2D7-D4F700B68101}"/>
              </a:ext>
            </a:extLst>
          </p:cNvPr>
          <p:cNvSpPr>
            <a:spLocks noGrp="1"/>
          </p:cNvSpPr>
          <p:nvPr>
            <p:ph type="title"/>
          </p:nvPr>
        </p:nvSpPr>
        <p:spPr>
          <a:xfrm>
            <a:off x="839788" y="365125"/>
            <a:ext cx="10515600" cy="1325563"/>
          </a:xfrm>
        </p:spPr>
        <p:txBody>
          <a:bodyPr/>
          <a:lstStyle/>
          <a:p>
            <a:r>
              <a:rPr lang="en-US"/>
              <a:t>Click to edit Master title style</a:t>
            </a:r>
            <a:endParaRPr lang="ar-SA"/>
          </a:p>
        </p:txBody>
      </p:sp>
      <p:sp>
        <p:nvSpPr>
          <p:cNvPr id="3" name="Text Placeholder 2">
            <a:extLst>
              <a:ext uri="{FF2B5EF4-FFF2-40B4-BE49-F238E27FC236}">
                <a16:creationId xmlns:a16="http://schemas.microsoft.com/office/drawing/2014/main" id="{A47C7D0A-CB16-4257-A5DC-45BDDABA8E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E9BAA-F5FB-4BFA-A396-8E2DBBBAB6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Text Placeholder 4">
            <a:extLst>
              <a:ext uri="{FF2B5EF4-FFF2-40B4-BE49-F238E27FC236}">
                <a16:creationId xmlns:a16="http://schemas.microsoft.com/office/drawing/2014/main" id="{4128B3AC-E0FF-4EFA-A3C5-37A29286D2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FD007E-AE0A-4BD2-AE94-85BEC87AE5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7" name="Date Placeholder 6">
            <a:extLst>
              <a:ext uri="{FF2B5EF4-FFF2-40B4-BE49-F238E27FC236}">
                <a16:creationId xmlns:a16="http://schemas.microsoft.com/office/drawing/2014/main" id="{3A39466E-E2D8-4D04-AD54-C8BCB80BE593}"/>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8" name="Footer Placeholder 7">
            <a:extLst>
              <a:ext uri="{FF2B5EF4-FFF2-40B4-BE49-F238E27FC236}">
                <a16:creationId xmlns:a16="http://schemas.microsoft.com/office/drawing/2014/main" id="{3354E4FD-772E-47C3-9CBF-9AF5C15D52C7}"/>
              </a:ext>
            </a:extLst>
          </p:cNvPr>
          <p:cNvSpPr>
            <a:spLocks noGrp="1"/>
          </p:cNvSpPr>
          <p:nvPr>
            <p:ph type="ftr" sz="quarter" idx="11"/>
          </p:nvPr>
        </p:nvSpPr>
        <p:spPr/>
        <p:txBody>
          <a:bodyPr/>
          <a:lstStyle/>
          <a:p>
            <a:endParaRPr lang="ar-SA"/>
          </a:p>
        </p:txBody>
      </p:sp>
      <p:sp>
        <p:nvSpPr>
          <p:cNvPr id="9" name="Slide Number Placeholder 8">
            <a:extLst>
              <a:ext uri="{FF2B5EF4-FFF2-40B4-BE49-F238E27FC236}">
                <a16:creationId xmlns:a16="http://schemas.microsoft.com/office/drawing/2014/main" id="{7684D0F9-8342-4E0D-9418-255CDAB4414B}"/>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179089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9411-B26A-434B-85EA-546DF3063CDD}"/>
              </a:ext>
            </a:extLst>
          </p:cNvPr>
          <p:cNvSpPr>
            <a:spLocks noGrp="1"/>
          </p:cNvSpPr>
          <p:nvPr>
            <p:ph type="title"/>
          </p:nvPr>
        </p:nvSpPr>
        <p:spPr/>
        <p:txBody>
          <a:bodyPr/>
          <a:lstStyle/>
          <a:p>
            <a:r>
              <a:rPr lang="en-US"/>
              <a:t>Click to edit Master title style</a:t>
            </a:r>
            <a:endParaRPr lang="ar-SA"/>
          </a:p>
        </p:txBody>
      </p:sp>
      <p:sp>
        <p:nvSpPr>
          <p:cNvPr id="3" name="Date Placeholder 2">
            <a:extLst>
              <a:ext uri="{FF2B5EF4-FFF2-40B4-BE49-F238E27FC236}">
                <a16:creationId xmlns:a16="http://schemas.microsoft.com/office/drawing/2014/main" id="{11DB1D5C-DC52-49C8-9360-A362EB0D0793}"/>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4" name="Footer Placeholder 3">
            <a:extLst>
              <a:ext uri="{FF2B5EF4-FFF2-40B4-BE49-F238E27FC236}">
                <a16:creationId xmlns:a16="http://schemas.microsoft.com/office/drawing/2014/main" id="{B69C310C-4263-4262-981D-B262B1058203}"/>
              </a:ext>
            </a:extLst>
          </p:cNvPr>
          <p:cNvSpPr>
            <a:spLocks noGrp="1"/>
          </p:cNvSpPr>
          <p:nvPr>
            <p:ph type="ftr" sz="quarter" idx="11"/>
          </p:nvPr>
        </p:nvSpPr>
        <p:spPr/>
        <p:txBody>
          <a:bodyPr/>
          <a:lstStyle/>
          <a:p>
            <a:endParaRPr lang="ar-SA"/>
          </a:p>
        </p:txBody>
      </p:sp>
      <p:sp>
        <p:nvSpPr>
          <p:cNvPr id="5" name="Slide Number Placeholder 4">
            <a:extLst>
              <a:ext uri="{FF2B5EF4-FFF2-40B4-BE49-F238E27FC236}">
                <a16:creationId xmlns:a16="http://schemas.microsoft.com/office/drawing/2014/main" id="{6529649B-E8EF-46D1-8EC9-7448C343ECC2}"/>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412149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0BDCE-50F8-473B-A7E9-C59A51A9A404}"/>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3" name="Footer Placeholder 2">
            <a:extLst>
              <a:ext uri="{FF2B5EF4-FFF2-40B4-BE49-F238E27FC236}">
                <a16:creationId xmlns:a16="http://schemas.microsoft.com/office/drawing/2014/main" id="{17849DF8-7EBF-463E-B26D-6D947E872E76}"/>
              </a:ext>
            </a:extLst>
          </p:cNvPr>
          <p:cNvSpPr>
            <a:spLocks noGrp="1"/>
          </p:cNvSpPr>
          <p:nvPr>
            <p:ph type="ftr" sz="quarter" idx="11"/>
          </p:nvPr>
        </p:nvSpPr>
        <p:spPr/>
        <p:txBody>
          <a:bodyPr/>
          <a:lstStyle/>
          <a:p>
            <a:endParaRPr lang="ar-SA"/>
          </a:p>
        </p:txBody>
      </p:sp>
      <p:sp>
        <p:nvSpPr>
          <p:cNvPr id="4" name="Slide Number Placeholder 3">
            <a:extLst>
              <a:ext uri="{FF2B5EF4-FFF2-40B4-BE49-F238E27FC236}">
                <a16:creationId xmlns:a16="http://schemas.microsoft.com/office/drawing/2014/main" id="{5CE474BD-0CAD-4E09-B435-EB60DFA9F343}"/>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1913095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827F-FEDB-4EF4-B381-86397B342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Content Placeholder 2">
            <a:extLst>
              <a:ext uri="{FF2B5EF4-FFF2-40B4-BE49-F238E27FC236}">
                <a16:creationId xmlns:a16="http://schemas.microsoft.com/office/drawing/2014/main" id="{2E78DC4D-8018-4DE0-A3DD-A795AB240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Text Placeholder 3">
            <a:extLst>
              <a:ext uri="{FF2B5EF4-FFF2-40B4-BE49-F238E27FC236}">
                <a16:creationId xmlns:a16="http://schemas.microsoft.com/office/drawing/2014/main" id="{2AC8A24C-2F25-4F17-B023-9D5956167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BDC38D-72F9-4340-9D5E-6ABBEEBB989F}"/>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6" name="Footer Placeholder 5">
            <a:extLst>
              <a:ext uri="{FF2B5EF4-FFF2-40B4-BE49-F238E27FC236}">
                <a16:creationId xmlns:a16="http://schemas.microsoft.com/office/drawing/2014/main" id="{C235D60A-8C10-425A-BD1C-4D0F64D56D65}"/>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27A5696C-C043-4DD5-8D64-721AC68FCABC}"/>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1683978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2F6C-6B1B-4579-B7C7-FDFB8DF3B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Picture Placeholder 2">
            <a:extLst>
              <a:ext uri="{FF2B5EF4-FFF2-40B4-BE49-F238E27FC236}">
                <a16:creationId xmlns:a16="http://schemas.microsoft.com/office/drawing/2014/main" id="{17F4BF04-08BA-40F0-B8D0-B62922D4A2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a:extLst>
              <a:ext uri="{FF2B5EF4-FFF2-40B4-BE49-F238E27FC236}">
                <a16:creationId xmlns:a16="http://schemas.microsoft.com/office/drawing/2014/main" id="{80F2F5BA-7D40-44EA-979B-F67CAB3E2B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8B12B-CBFA-438C-8A10-C9C600F924B3}"/>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6" name="Footer Placeholder 5">
            <a:extLst>
              <a:ext uri="{FF2B5EF4-FFF2-40B4-BE49-F238E27FC236}">
                <a16:creationId xmlns:a16="http://schemas.microsoft.com/office/drawing/2014/main" id="{E2420E02-BF91-4D30-816B-D211D38D82B4}"/>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36F7BBF5-8B51-4A43-996D-02FE5F4E7029}"/>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61488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F460-80AF-4633-B1AE-604FCA0AE3F0}"/>
              </a:ext>
            </a:extLst>
          </p:cNvPr>
          <p:cNvSpPr>
            <a:spLocks noGrp="1"/>
          </p:cNvSpPr>
          <p:nvPr>
            <p:ph type="title"/>
          </p:nvPr>
        </p:nvSpPr>
        <p:spPr/>
        <p:txBody>
          <a:bodyPr/>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50FBC6EE-6810-4B2F-A6E7-574329F1EE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28959586-94B4-4323-9E13-50CD1ECEC6BB}"/>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C595C0E6-B740-48E9-A844-702C9962B332}"/>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B0230A52-30D8-4EA2-A52A-0D5B68DBB25A}"/>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2014279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4E9056-F456-45B6-BB47-8A7FC2950A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DEBCF7ED-7827-4F94-BFAE-93DD6AB726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58BA6BFF-DDF3-43FA-A7E5-B2DDD34E1B61}"/>
              </a:ext>
            </a:extLst>
          </p:cNvPr>
          <p:cNvSpPr>
            <a:spLocks noGrp="1"/>
          </p:cNvSpPr>
          <p:nvPr>
            <p:ph type="dt" sz="half" idx="10"/>
          </p:nvPr>
        </p:nvSpPr>
        <p:spPr/>
        <p:txBody>
          <a:body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4372F0B4-87FF-4B3A-97EA-A2B71F4645C4}"/>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C02E02BE-C5D7-4E01-943A-89B52B5981F0}"/>
              </a:ext>
            </a:extLst>
          </p:cNvPr>
          <p:cNvSpPr>
            <a:spLocks noGrp="1"/>
          </p:cNvSpPr>
          <p:nvPr>
            <p:ph type="sldNum" sz="quarter" idx="12"/>
          </p:nvPr>
        </p:nvSpPr>
        <p:spPr/>
        <p:txBody>
          <a:bodyPr/>
          <a:lstStyle/>
          <a:p>
            <a:fld id="{7C7BADA4-C284-4FA4-AA71-244DD9A2E06C}" type="slidenum">
              <a:rPr lang="ar-SA" smtClean="0"/>
              <a:t>‹#›</a:t>
            </a:fld>
            <a:endParaRPr lang="ar-SA"/>
          </a:p>
        </p:txBody>
      </p:sp>
    </p:spTree>
    <p:extLst>
      <p:ext uri="{BB962C8B-B14F-4D97-AF65-F5344CB8AC3E}">
        <p14:creationId xmlns:p14="http://schemas.microsoft.com/office/powerpoint/2010/main" val="2334017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C10425-DEAC-41E0-8853-35AF865639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SA"/>
          </a:p>
        </p:txBody>
      </p:sp>
      <p:sp>
        <p:nvSpPr>
          <p:cNvPr id="3" name="Text Placeholder 2">
            <a:extLst>
              <a:ext uri="{FF2B5EF4-FFF2-40B4-BE49-F238E27FC236}">
                <a16:creationId xmlns:a16="http://schemas.microsoft.com/office/drawing/2014/main" id="{64259C4A-B8E9-433B-81B4-059CB7199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4CA8BE3A-C991-40BB-96BA-0965EFB64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637D95-E512-44F9-B0DB-9A8E9EA4084B}" type="datetimeFigureOut">
              <a:rPr lang="ar-SA" smtClean="0"/>
              <a:t>28/10/47</a:t>
            </a:fld>
            <a:endParaRPr lang="ar-SA"/>
          </a:p>
        </p:txBody>
      </p:sp>
      <p:sp>
        <p:nvSpPr>
          <p:cNvPr id="5" name="Footer Placeholder 4">
            <a:extLst>
              <a:ext uri="{FF2B5EF4-FFF2-40B4-BE49-F238E27FC236}">
                <a16:creationId xmlns:a16="http://schemas.microsoft.com/office/drawing/2014/main" id="{AD0AD422-01E7-4C52-B2C4-B511638596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A"/>
          </a:p>
        </p:txBody>
      </p:sp>
      <p:sp>
        <p:nvSpPr>
          <p:cNvPr id="6" name="Slide Number Placeholder 5">
            <a:extLst>
              <a:ext uri="{FF2B5EF4-FFF2-40B4-BE49-F238E27FC236}">
                <a16:creationId xmlns:a16="http://schemas.microsoft.com/office/drawing/2014/main" id="{D921D895-173A-4B38-A922-FFACE75BD6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7BADA4-C284-4FA4-AA71-244DD9A2E06C}" type="slidenum">
              <a:rPr lang="ar-SA" smtClean="0"/>
              <a:t>‹#›</a:t>
            </a:fld>
            <a:endParaRPr lang="ar-SA"/>
          </a:p>
        </p:txBody>
      </p:sp>
    </p:spTree>
    <p:extLst>
      <p:ext uri="{BB962C8B-B14F-4D97-AF65-F5344CB8AC3E}">
        <p14:creationId xmlns:p14="http://schemas.microsoft.com/office/powerpoint/2010/main" val="3225616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19" Type="http://schemas.openxmlformats.org/officeDocument/2006/relationships/image" Target="../media/image19.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F5F70B7-7A22-4EEE-ACA5-4535F7741ACA}"/>
              </a:ext>
            </a:extLst>
          </p:cNvPr>
          <p:cNvGrpSpPr/>
          <p:nvPr/>
        </p:nvGrpSpPr>
        <p:grpSpPr>
          <a:xfrm>
            <a:off x="2684334" y="-273699"/>
            <a:ext cx="11158418" cy="7131699"/>
            <a:chOff x="2684334" y="-273699"/>
            <a:chExt cx="11158418" cy="7131699"/>
          </a:xfrm>
          <a:blipFill>
            <a:blip r:embed="rId2"/>
            <a:stretch>
              <a:fillRect/>
            </a:stretch>
          </a:blipFill>
        </p:grpSpPr>
        <p:sp>
          <p:nvSpPr>
            <p:cNvPr id="4" name="Isosceles Triangle 3">
              <a:extLst>
                <a:ext uri="{FF2B5EF4-FFF2-40B4-BE49-F238E27FC236}">
                  <a16:creationId xmlns:a16="http://schemas.microsoft.com/office/drawing/2014/main" id="{58F47837-21CA-41EE-85F7-737A4B1598E4}"/>
                </a:ext>
              </a:extLst>
            </p:cNvPr>
            <p:cNvSpPr/>
            <p:nvPr/>
          </p:nvSpPr>
          <p:spPr>
            <a:xfrm>
              <a:off x="4479152" y="2505600"/>
              <a:ext cx="9363600" cy="4352400"/>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6" name="Isosceles Triangle 5">
              <a:extLst>
                <a:ext uri="{FF2B5EF4-FFF2-40B4-BE49-F238E27FC236}">
                  <a16:creationId xmlns:a16="http://schemas.microsoft.com/office/drawing/2014/main" id="{868230B9-59E3-493D-857F-F2F97DD68F66}"/>
                </a:ext>
              </a:extLst>
            </p:cNvPr>
            <p:cNvSpPr/>
            <p:nvPr/>
          </p:nvSpPr>
          <p:spPr>
            <a:xfrm rot="16200000">
              <a:off x="8007376" y="950301"/>
              <a:ext cx="5472000" cy="3024000"/>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8" name="Isosceles Triangle 7">
              <a:extLst>
                <a:ext uri="{FF2B5EF4-FFF2-40B4-BE49-F238E27FC236}">
                  <a16:creationId xmlns:a16="http://schemas.microsoft.com/office/drawing/2014/main" id="{660AFDEA-613E-468C-9D30-F66B6A0DCDE3}"/>
                </a:ext>
              </a:extLst>
            </p:cNvPr>
            <p:cNvSpPr/>
            <p:nvPr/>
          </p:nvSpPr>
          <p:spPr>
            <a:xfrm rot="10800000">
              <a:off x="2684334" y="-273699"/>
              <a:ext cx="9363600" cy="4352400"/>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grpSp>
      <p:sp>
        <p:nvSpPr>
          <p:cNvPr id="12" name="TextBox 11">
            <a:extLst>
              <a:ext uri="{FF2B5EF4-FFF2-40B4-BE49-F238E27FC236}">
                <a16:creationId xmlns:a16="http://schemas.microsoft.com/office/drawing/2014/main" id="{558B03D4-E41F-48D9-AC74-19AC32721D45}"/>
              </a:ext>
            </a:extLst>
          </p:cNvPr>
          <p:cNvSpPr txBox="1"/>
          <p:nvPr/>
        </p:nvSpPr>
        <p:spPr>
          <a:xfrm>
            <a:off x="144066" y="2114256"/>
            <a:ext cx="6497366" cy="4247317"/>
          </a:xfrm>
          <a:prstGeom prst="rect">
            <a:avLst/>
          </a:prstGeom>
          <a:noFill/>
        </p:spPr>
        <p:txBody>
          <a:bodyPr wrap="square" rtlCol="1">
            <a:spAutoFit/>
          </a:bodyPr>
          <a:lstStyle/>
          <a:p>
            <a:r>
              <a:rPr lang="en-US" sz="5400" dirty="0">
                <a:solidFill>
                  <a:srgbClr val="3B1F45"/>
                </a:solidFill>
                <a:latin typeface="Impact" panose="020B0806030902050204" pitchFamily="34" charset="0"/>
                <a:ea typeface="Cambria" panose="02040503050406030204" pitchFamily="18" charset="0"/>
                <a:cs typeface="Arial" panose="020B0604020202020204" pitchFamily="34" charset="0"/>
              </a:rPr>
              <a:t>Finney attack </a:t>
            </a:r>
            <a:r>
              <a:rPr lang="en-US" sz="5400" dirty="0">
                <a:solidFill>
                  <a:srgbClr val="CAA5D7"/>
                </a:solidFill>
                <a:latin typeface="Impact" panose="020B0806030902050204" pitchFamily="34" charset="0"/>
                <a:ea typeface="Cambria" panose="02040503050406030204" pitchFamily="18" charset="0"/>
                <a:cs typeface="Arial" panose="020B0604020202020204" pitchFamily="34" charset="0"/>
              </a:rPr>
              <a:t>in</a:t>
            </a:r>
            <a:r>
              <a:rPr lang="en-US" sz="5400" dirty="0">
                <a:solidFill>
                  <a:srgbClr val="E6D4EC"/>
                </a:solidFill>
                <a:latin typeface="Impact" panose="020B0806030902050204" pitchFamily="34" charset="0"/>
                <a:ea typeface="Cambria" panose="02040503050406030204" pitchFamily="18" charset="0"/>
                <a:cs typeface="Arial" panose="020B0604020202020204" pitchFamily="34" charset="0"/>
              </a:rPr>
              <a:t> </a:t>
            </a:r>
            <a:r>
              <a:rPr lang="en-US" sz="5400" dirty="0">
                <a:solidFill>
                  <a:srgbClr val="D09E00"/>
                </a:solidFill>
                <a:latin typeface="Impact" panose="020B0806030902050204" pitchFamily="34" charset="0"/>
                <a:ea typeface="Cambria" panose="02040503050406030204" pitchFamily="18" charset="0"/>
                <a:cs typeface="Arial" panose="020B0604020202020204" pitchFamily="34" charset="0"/>
              </a:rPr>
              <a:t>Bitcoin</a:t>
            </a:r>
            <a:r>
              <a:rPr lang="en-US" sz="5400" dirty="0">
                <a:solidFill>
                  <a:srgbClr val="E6D4EC"/>
                </a:solidFill>
                <a:latin typeface="Impact" panose="020B0806030902050204" pitchFamily="34" charset="0"/>
                <a:ea typeface="Cambria" panose="02040503050406030204" pitchFamily="18" charset="0"/>
                <a:cs typeface="Arial" panose="020B0604020202020204" pitchFamily="34" charset="0"/>
              </a:rPr>
              <a:t> </a:t>
            </a:r>
            <a:r>
              <a:rPr lang="en-US" sz="5400" dirty="0">
                <a:solidFill>
                  <a:srgbClr val="CAA5D7"/>
                </a:solidFill>
                <a:latin typeface="Impact" panose="020B0806030902050204" pitchFamily="34" charset="0"/>
                <a:ea typeface="Cambria" panose="02040503050406030204" pitchFamily="18" charset="0"/>
                <a:cs typeface="Arial" panose="020B0604020202020204" pitchFamily="34" charset="0"/>
              </a:rPr>
              <a:t>and Its Impact on Blockchain Security </a:t>
            </a:r>
            <a:br>
              <a:rPr lang="en-US" sz="5400" dirty="0">
                <a:solidFill>
                  <a:srgbClr val="CAA5D7"/>
                </a:solidFill>
                <a:latin typeface="Impact" panose="020B0806030902050204" pitchFamily="34" charset="0"/>
                <a:ea typeface="Cambria" panose="02040503050406030204" pitchFamily="18" charset="0"/>
                <a:cs typeface="Arial" panose="020B0604020202020204" pitchFamily="34" charset="0"/>
              </a:rPr>
            </a:br>
            <a:r>
              <a:rPr lang="en-US" sz="5400" dirty="0">
                <a:solidFill>
                  <a:srgbClr val="CAA5D7"/>
                </a:solidFill>
                <a:latin typeface="Impact" panose="020B0806030902050204" pitchFamily="34" charset="0"/>
                <a:ea typeface="Cambria" panose="02040503050406030204" pitchFamily="18" charset="0"/>
                <a:cs typeface="Arial" panose="020B0604020202020204" pitchFamily="34" charset="0"/>
              </a:rPr>
              <a:t>-------------------------</a:t>
            </a:r>
            <a:endParaRPr lang="ar-SA" sz="5400" dirty="0">
              <a:solidFill>
                <a:srgbClr val="CAA5D7"/>
              </a:solidFill>
              <a:latin typeface="Impact" panose="020B080603090205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179787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6014122"/>
            <a:ext cx="1426028" cy="758435"/>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E6D4EC"/>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6332CBEC-6155-4602-A7C0-45BABFF77E1C}"/>
              </a:ext>
            </a:extLst>
          </p:cNvPr>
          <p:cNvSpPr txBox="1"/>
          <p:nvPr/>
        </p:nvSpPr>
        <p:spPr>
          <a:xfrm>
            <a:off x="2287871" y="567559"/>
            <a:ext cx="7178566" cy="1292662"/>
          </a:xfrm>
          <a:prstGeom prst="rect">
            <a:avLst/>
          </a:prstGeom>
          <a:noFill/>
        </p:spPr>
        <p:txBody>
          <a:bodyPr wrap="square" rtlCol="1">
            <a:spAutoFit/>
          </a:bodyPr>
          <a:lstStyle/>
          <a:p>
            <a:r>
              <a:rPr lang="en-US" sz="6000" b="1" dirty="0">
                <a:solidFill>
                  <a:schemeClr val="bg1"/>
                </a:solidFill>
                <a:latin typeface="Bodoni MT Black" panose="02070A03080606020203" pitchFamily="18" charset="0"/>
                <a:cs typeface="Aldhabi" panose="01000000000000000000" pitchFamily="2" charset="-78"/>
              </a:rPr>
              <a:t>Introduction</a:t>
            </a:r>
            <a:endParaRPr lang="ar-SA" sz="5400" b="1" dirty="0">
              <a:solidFill>
                <a:schemeClr val="bg1"/>
              </a:solidFill>
              <a:latin typeface="Bodoni MT Black" panose="02070A03080606020203" pitchFamily="18" charset="0"/>
              <a:cs typeface="Aldhabi" panose="01000000000000000000" pitchFamily="2" charset="-78"/>
            </a:endParaRPr>
          </a:p>
          <a:p>
            <a:endParaRPr lang="ar-SA" dirty="0"/>
          </a:p>
        </p:txBody>
      </p:sp>
      <p:sp>
        <p:nvSpPr>
          <p:cNvPr id="3" name="TextBox 2">
            <a:extLst>
              <a:ext uri="{FF2B5EF4-FFF2-40B4-BE49-F238E27FC236}">
                <a16:creationId xmlns:a16="http://schemas.microsoft.com/office/drawing/2014/main" id="{098C7A46-EF21-47A2-8C1B-C85E28EABEC9}"/>
              </a:ext>
            </a:extLst>
          </p:cNvPr>
          <p:cNvSpPr txBox="1"/>
          <p:nvPr/>
        </p:nvSpPr>
        <p:spPr>
          <a:xfrm>
            <a:off x="1965435" y="3159020"/>
            <a:ext cx="8671034" cy="2523768"/>
          </a:xfrm>
          <a:prstGeom prst="rect">
            <a:avLst/>
          </a:prstGeom>
          <a:noFill/>
        </p:spPr>
        <p:txBody>
          <a:bodyPr wrap="square" rtlCol="1">
            <a:spAutoFit/>
          </a:bodyPr>
          <a:lstStyle/>
          <a:p>
            <a:r>
              <a:rPr lang="en-US" sz="2800" b="1" dirty="0">
                <a:solidFill>
                  <a:schemeClr val="bg1"/>
                </a:solidFill>
                <a:latin typeface="Corbel Light" panose="020B0303020204020204" pitchFamily="34" charset="0"/>
              </a:rPr>
              <a:t>Bitcoin is a digital currency based on blockchain that enables secure transactions without a central authority. However, it still has timing-related weaknesses. The Finney Attack is an example of a double spending risk caused by reliance on fast payments.</a:t>
            </a:r>
            <a:endParaRPr lang="ar-SA" sz="2800" b="1" dirty="0">
              <a:solidFill>
                <a:schemeClr val="bg1"/>
              </a:solidFill>
              <a:latin typeface="Corbel Light" panose="020B0303020204020204" pitchFamily="34" charset="0"/>
            </a:endParaRPr>
          </a:p>
          <a:p>
            <a:endParaRPr lang="ar-SA" dirty="0"/>
          </a:p>
        </p:txBody>
      </p:sp>
      <p:pic>
        <p:nvPicPr>
          <p:cNvPr id="6" name="Graphic 5" descr="Laptop with solid fill">
            <a:extLst>
              <a:ext uri="{FF2B5EF4-FFF2-40B4-BE49-F238E27FC236}">
                <a16:creationId xmlns:a16="http://schemas.microsoft.com/office/drawing/2014/main" id="{D6CF6FD7-A228-43FB-9AB8-3B56DF0251D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17650" y="-13802"/>
            <a:ext cx="777600" cy="777600"/>
          </a:xfrm>
          <a:prstGeom prst="rect">
            <a:avLst/>
          </a:prstGeom>
        </p:spPr>
      </p:pic>
    </p:spTree>
    <p:extLst>
      <p:ext uri="{BB962C8B-B14F-4D97-AF65-F5344CB8AC3E}">
        <p14:creationId xmlns:p14="http://schemas.microsoft.com/office/powerpoint/2010/main" val="4035909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5049564"/>
            <a:ext cx="1426028" cy="1722993"/>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D9C0E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B6459494-4A5F-426D-B403-969F29BB5847}"/>
              </a:ext>
            </a:extLst>
          </p:cNvPr>
          <p:cNvSpPr txBox="1"/>
          <p:nvPr/>
        </p:nvSpPr>
        <p:spPr>
          <a:xfrm>
            <a:off x="1843062" y="420416"/>
            <a:ext cx="9749848" cy="1846659"/>
          </a:xfrm>
          <a:prstGeom prst="rect">
            <a:avLst/>
          </a:prstGeom>
          <a:noFill/>
        </p:spPr>
        <p:txBody>
          <a:bodyPr wrap="square" rtlCol="1">
            <a:spAutoFit/>
          </a:bodyPr>
          <a:lstStyle/>
          <a:p>
            <a:r>
              <a:rPr lang="en-US" sz="4800" b="1" dirty="0">
                <a:solidFill>
                  <a:schemeClr val="bg1"/>
                </a:solidFill>
                <a:latin typeface="Bodoni MT Black" panose="02070A03080606020203" pitchFamily="18" charset="0"/>
              </a:rPr>
              <a:t>Understanding the Idea Behind the Attack</a:t>
            </a:r>
            <a:endParaRPr lang="ar-SA" sz="4800" b="1" dirty="0">
              <a:solidFill>
                <a:schemeClr val="bg1"/>
              </a:solidFill>
              <a:latin typeface="Bodoni MT Black" panose="02070A03080606020203" pitchFamily="18" charset="0"/>
            </a:endParaRPr>
          </a:p>
          <a:p>
            <a:endParaRPr lang="ar-SA" dirty="0"/>
          </a:p>
        </p:txBody>
      </p:sp>
      <p:sp>
        <p:nvSpPr>
          <p:cNvPr id="3" name="TextBox 2">
            <a:extLst>
              <a:ext uri="{FF2B5EF4-FFF2-40B4-BE49-F238E27FC236}">
                <a16:creationId xmlns:a16="http://schemas.microsoft.com/office/drawing/2014/main" id="{8B0A7A17-80E5-4850-A4A2-29F6B401EFE8}"/>
              </a:ext>
            </a:extLst>
          </p:cNvPr>
          <p:cNvSpPr txBox="1"/>
          <p:nvPr/>
        </p:nvSpPr>
        <p:spPr>
          <a:xfrm>
            <a:off x="1843062" y="3118374"/>
            <a:ext cx="9112469" cy="2092881"/>
          </a:xfrm>
          <a:prstGeom prst="rect">
            <a:avLst/>
          </a:prstGeom>
          <a:noFill/>
        </p:spPr>
        <p:txBody>
          <a:bodyPr wrap="square" rtlCol="1">
            <a:spAutoFit/>
          </a:bodyPr>
          <a:lstStyle/>
          <a:p>
            <a:r>
              <a:rPr lang="en-US" sz="2600" dirty="0">
                <a:solidFill>
                  <a:schemeClr val="bg1"/>
                </a:solidFill>
                <a:latin typeface="Corbel Light" panose="020B0303020204020204" pitchFamily="34" charset="0"/>
              </a:rPr>
              <a:t>To understand the Finney Attack, it is important to know that Bitcoin transactions are not confirmed instantly but pass through a temporary unconfirmed state. During this time, the attacker (miner) exploits the timing delay to create two conflicting transactions using the same coins, leading to double spending.</a:t>
            </a:r>
            <a:endParaRPr lang="ar-SA" sz="2600" dirty="0">
              <a:solidFill>
                <a:schemeClr val="bg1"/>
              </a:solidFill>
            </a:endParaRPr>
          </a:p>
        </p:txBody>
      </p:sp>
      <p:pic>
        <p:nvPicPr>
          <p:cNvPr id="6" name="Graphic 5" descr="Laptop with solid fill">
            <a:extLst>
              <a:ext uri="{FF2B5EF4-FFF2-40B4-BE49-F238E27FC236}">
                <a16:creationId xmlns:a16="http://schemas.microsoft.com/office/drawing/2014/main" id="{B2D8A603-EFF7-4E43-8AD2-D850C18E175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17650" y="-21227"/>
            <a:ext cx="777600" cy="777600"/>
          </a:xfrm>
          <a:prstGeom prst="rect">
            <a:avLst/>
          </a:prstGeom>
        </p:spPr>
      </p:pic>
    </p:spTree>
    <p:extLst>
      <p:ext uri="{BB962C8B-B14F-4D97-AF65-F5344CB8AC3E}">
        <p14:creationId xmlns:p14="http://schemas.microsoft.com/office/powerpoint/2010/main" val="166169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4206766"/>
            <a:ext cx="1426028" cy="2565791"/>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C39AD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BBB6BEDD-E33B-4889-8108-2D1B8A87056D}"/>
              </a:ext>
            </a:extLst>
          </p:cNvPr>
          <p:cNvSpPr txBox="1"/>
          <p:nvPr/>
        </p:nvSpPr>
        <p:spPr>
          <a:xfrm>
            <a:off x="2333297" y="532370"/>
            <a:ext cx="6800193" cy="1323439"/>
          </a:xfrm>
          <a:prstGeom prst="rect">
            <a:avLst/>
          </a:prstGeom>
          <a:noFill/>
        </p:spPr>
        <p:txBody>
          <a:bodyPr wrap="square" rtlCol="1">
            <a:spAutoFit/>
          </a:bodyPr>
          <a:lstStyle/>
          <a:p>
            <a:r>
              <a:rPr lang="en-US" sz="4000" b="1" dirty="0">
                <a:solidFill>
                  <a:schemeClr val="bg1"/>
                </a:solidFill>
                <a:latin typeface="Bodoni MT Black" panose="02070A03080606020203" pitchFamily="18" charset="0"/>
              </a:rPr>
              <a:t>How the Attack Happens (Simple Scenario)</a:t>
            </a:r>
            <a:endParaRPr lang="ar-SA" sz="4000" b="1" dirty="0">
              <a:solidFill>
                <a:schemeClr val="bg1"/>
              </a:solidFill>
              <a:latin typeface="Bodoni MT Black" panose="02070A03080606020203" pitchFamily="18" charset="0"/>
            </a:endParaRPr>
          </a:p>
        </p:txBody>
      </p:sp>
      <p:sp>
        <p:nvSpPr>
          <p:cNvPr id="3" name="TextBox 2">
            <a:extLst>
              <a:ext uri="{FF2B5EF4-FFF2-40B4-BE49-F238E27FC236}">
                <a16:creationId xmlns:a16="http://schemas.microsoft.com/office/drawing/2014/main" id="{C755FBC8-2A65-4EA8-8214-858B0906559F}"/>
              </a:ext>
            </a:extLst>
          </p:cNvPr>
          <p:cNvSpPr txBox="1"/>
          <p:nvPr/>
        </p:nvSpPr>
        <p:spPr>
          <a:xfrm>
            <a:off x="2028496" y="3065860"/>
            <a:ext cx="8818180" cy="2523768"/>
          </a:xfrm>
          <a:prstGeom prst="rect">
            <a:avLst/>
          </a:prstGeom>
          <a:noFill/>
        </p:spPr>
        <p:txBody>
          <a:bodyPr wrap="square" rtlCol="1">
            <a:spAutoFit/>
          </a:bodyPr>
          <a:lstStyle/>
          <a:p>
            <a:pPr algn="ctr"/>
            <a:r>
              <a:rPr lang="en-US" sz="2000" dirty="0">
                <a:solidFill>
                  <a:schemeClr val="bg1"/>
                </a:solidFill>
                <a:effectLst/>
                <a:latin typeface="Corbel Light" panose="020B0303020204020204" pitchFamily="34" charset="0"/>
              </a:rPr>
              <a:t>In a Finney Attack, a miner exploits confirmation delay to perform double spending:</a:t>
            </a:r>
            <a:endParaRPr lang="en-US" sz="2000" dirty="0">
              <a:solidFill>
                <a:schemeClr val="bg1"/>
              </a:solidFill>
              <a:latin typeface="Corbel Light" panose="020B0303020204020204" pitchFamily="34" charset="0"/>
            </a:endParaRPr>
          </a:p>
          <a:p>
            <a:pPr algn="ctr"/>
            <a:r>
              <a:rPr lang="en-US" sz="2000" dirty="0">
                <a:solidFill>
                  <a:schemeClr val="bg1"/>
                </a:solidFill>
                <a:effectLst/>
                <a:latin typeface="Corbel Light" panose="020B0303020204020204" pitchFamily="34" charset="0"/>
              </a:rPr>
              <a:t>• creates a private block sending coins to themselves.</a:t>
            </a:r>
            <a:endParaRPr lang="en-US" sz="2000" dirty="0">
              <a:solidFill>
                <a:schemeClr val="bg1"/>
              </a:solidFill>
              <a:latin typeface="Corbel Light" panose="020B0303020204020204" pitchFamily="34" charset="0"/>
            </a:endParaRPr>
          </a:p>
          <a:p>
            <a:pPr algn="ctr"/>
            <a:r>
              <a:rPr lang="en-US" sz="2000" dirty="0">
                <a:solidFill>
                  <a:schemeClr val="bg1"/>
                </a:solidFill>
                <a:effectLst/>
                <a:latin typeface="Corbel Light" panose="020B0303020204020204" pitchFamily="34" charset="0"/>
              </a:rPr>
              <a:t>• pays a merchant with the same coins</a:t>
            </a:r>
            <a:br>
              <a:rPr lang="en-US" sz="2000" dirty="0">
                <a:solidFill>
                  <a:schemeClr val="bg1"/>
                </a:solidFill>
                <a:effectLst/>
                <a:latin typeface="Corbel Light" panose="020B0303020204020204" pitchFamily="34" charset="0"/>
              </a:rPr>
            </a:br>
            <a:r>
              <a:rPr lang="en-US" sz="2000" dirty="0">
                <a:solidFill>
                  <a:schemeClr val="bg1"/>
                </a:solidFill>
                <a:effectLst/>
                <a:latin typeface="Corbel Light" panose="020B0303020204020204" pitchFamily="34" charset="0"/>
              </a:rPr>
              <a:t>• merchant accepts without confirmation.</a:t>
            </a:r>
            <a:endParaRPr lang="en-US" sz="2000" dirty="0">
              <a:solidFill>
                <a:schemeClr val="bg1"/>
              </a:solidFill>
              <a:latin typeface="Corbel Light" panose="020B0303020204020204" pitchFamily="34" charset="0"/>
            </a:endParaRPr>
          </a:p>
          <a:p>
            <a:pPr algn="ctr"/>
            <a:r>
              <a:rPr lang="en-US" sz="2000" dirty="0">
                <a:solidFill>
                  <a:schemeClr val="bg1"/>
                </a:solidFill>
                <a:effectLst/>
                <a:latin typeface="Corbel Light" panose="020B0303020204020204" pitchFamily="34" charset="0"/>
              </a:rPr>
              <a:t>• publishes the hidden block.</a:t>
            </a:r>
            <a:endParaRPr lang="en-US" sz="2000" dirty="0">
              <a:solidFill>
                <a:schemeClr val="bg1"/>
              </a:solidFill>
              <a:latin typeface="Corbel Light" panose="020B0303020204020204" pitchFamily="34" charset="0"/>
            </a:endParaRPr>
          </a:p>
          <a:p>
            <a:pPr algn="ctr"/>
            <a:r>
              <a:rPr lang="en-US" sz="2000" dirty="0">
                <a:solidFill>
                  <a:schemeClr val="bg1"/>
                </a:solidFill>
                <a:effectLst/>
                <a:latin typeface="Corbel Light" panose="020B0303020204020204" pitchFamily="34" charset="0"/>
              </a:rPr>
              <a:t>Result: the merchant’s transaction becomes invalid. This is an exploitation of timing and trust, not a direct hack.</a:t>
            </a:r>
            <a:endParaRPr lang="en-US" sz="2000" dirty="0">
              <a:solidFill>
                <a:schemeClr val="bg1"/>
              </a:solidFill>
              <a:latin typeface="Corbel Light" panose="020B0303020204020204" pitchFamily="34" charset="0"/>
            </a:endParaRPr>
          </a:p>
          <a:p>
            <a:endParaRPr lang="ar-SA" dirty="0"/>
          </a:p>
        </p:txBody>
      </p:sp>
      <p:pic>
        <p:nvPicPr>
          <p:cNvPr id="6" name="Graphic 5" descr="Laptop with solid fill">
            <a:extLst>
              <a:ext uri="{FF2B5EF4-FFF2-40B4-BE49-F238E27FC236}">
                <a16:creationId xmlns:a16="http://schemas.microsoft.com/office/drawing/2014/main" id="{403124EA-2CB1-4747-BA88-7DCC107C7B4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25993" y="-21227"/>
            <a:ext cx="777600" cy="777600"/>
          </a:xfrm>
          <a:prstGeom prst="rect">
            <a:avLst/>
          </a:prstGeom>
        </p:spPr>
      </p:pic>
    </p:spTree>
    <p:extLst>
      <p:ext uri="{BB962C8B-B14F-4D97-AF65-F5344CB8AC3E}">
        <p14:creationId xmlns:p14="http://schemas.microsoft.com/office/powerpoint/2010/main" val="3218117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3429000"/>
            <a:ext cx="1426028" cy="3343557"/>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AD75C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2" name="TextBox 1">
            <a:extLst>
              <a:ext uri="{FF2B5EF4-FFF2-40B4-BE49-F238E27FC236}">
                <a16:creationId xmlns:a16="http://schemas.microsoft.com/office/drawing/2014/main" id="{2A6946E9-C069-43F0-A4FB-CD71A649EBE7}"/>
              </a:ext>
            </a:extLst>
          </p:cNvPr>
          <p:cNvSpPr txBox="1"/>
          <p:nvPr/>
        </p:nvSpPr>
        <p:spPr>
          <a:xfrm>
            <a:off x="2039006" y="552507"/>
            <a:ext cx="7210096" cy="769441"/>
          </a:xfrm>
          <a:prstGeom prst="rect">
            <a:avLst/>
          </a:prstGeom>
          <a:noFill/>
        </p:spPr>
        <p:txBody>
          <a:bodyPr wrap="square" rtlCol="1">
            <a:spAutoFit/>
          </a:bodyPr>
          <a:lstStyle/>
          <a:p>
            <a:r>
              <a:rPr lang="en-US" sz="4400" b="1" dirty="0">
                <a:solidFill>
                  <a:schemeClr val="bg1"/>
                </a:solidFill>
                <a:latin typeface="Bodoni MT Black" panose="02070A03080606020203" pitchFamily="18" charset="0"/>
              </a:rPr>
              <a:t>Technical</a:t>
            </a:r>
            <a:r>
              <a:rPr lang="en-US" sz="4400" b="1" dirty="0">
                <a:solidFill>
                  <a:schemeClr val="bg1"/>
                </a:solidFill>
                <a:latin typeface="Bodoni MT Condensed" panose="02070606080606020203" pitchFamily="18" charset="0"/>
              </a:rPr>
              <a:t> </a:t>
            </a:r>
            <a:r>
              <a:rPr lang="en-US" sz="4400" b="1" dirty="0">
                <a:solidFill>
                  <a:schemeClr val="bg1"/>
                </a:solidFill>
                <a:latin typeface="Bodoni MT Black" panose="02070A03080606020203" pitchFamily="18" charset="0"/>
              </a:rPr>
              <a:t>Explanation</a:t>
            </a:r>
            <a:endParaRPr lang="ar-SA" sz="4400" b="1" dirty="0">
              <a:solidFill>
                <a:schemeClr val="bg1"/>
              </a:solidFill>
              <a:latin typeface="Bodoni MT Black" panose="02070A03080606020203" pitchFamily="18" charset="0"/>
            </a:endParaRPr>
          </a:p>
        </p:txBody>
      </p:sp>
      <p:sp>
        <p:nvSpPr>
          <p:cNvPr id="3" name="TextBox 2">
            <a:extLst>
              <a:ext uri="{FF2B5EF4-FFF2-40B4-BE49-F238E27FC236}">
                <a16:creationId xmlns:a16="http://schemas.microsoft.com/office/drawing/2014/main" id="{3229B657-4D4F-4F04-81CD-DC07F51225C9}"/>
              </a:ext>
            </a:extLst>
          </p:cNvPr>
          <p:cNvSpPr txBox="1"/>
          <p:nvPr/>
        </p:nvSpPr>
        <p:spPr>
          <a:xfrm>
            <a:off x="2175642" y="3052604"/>
            <a:ext cx="8744607" cy="2308324"/>
          </a:xfrm>
          <a:prstGeom prst="rect">
            <a:avLst/>
          </a:prstGeom>
          <a:noFill/>
        </p:spPr>
        <p:txBody>
          <a:bodyPr wrap="square" rtlCol="1">
            <a:spAutoFit/>
          </a:bodyPr>
          <a:lstStyle/>
          <a:p>
            <a:pPr algn="ctr"/>
            <a:r>
              <a:rPr lang="en-US" sz="2400" dirty="0">
                <a:solidFill>
                  <a:schemeClr val="bg1"/>
                </a:solidFill>
                <a:latin typeface="Corbel Light" panose="020B0303020204020204" pitchFamily="34" charset="0"/>
              </a:rPr>
              <a:t>The Finney Attack requires the attacker to be a miner and perform pre-mining before making a payment.</a:t>
            </a:r>
          </a:p>
          <a:p>
            <a:pPr algn="ctr"/>
            <a:r>
              <a:rPr lang="en-US" sz="2400" dirty="0">
                <a:solidFill>
                  <a:schemeClr val="bg1"/>
                </a:solidFill>
                <a:latin typeface="Corbel Light" panose="020B0303020204020204" pitchFamily="34" charset="0"/>
              </a:rPr>
              <a:t>• Hash power: enough computing power to mine a block</a:t>
            </a:r>
          </a:p>
          <a:p>
            <a:pPr algn="ctr"/>
            <a:r>
              <a:rPr lang="en-US" sz="2400" dirty="0">
                <a:solidFill>
                  <a:schemeClr val="bg1"/>
                </a:solidFill>
                <a:latin typeface="Corbel Light" panose="020B0303020204020204" pitchFamily="34" charset="0"/>
              </a:rPr>
              <a:t>• Block propagation: the block spreads across the network after release</a:t>
            </a:r>
          </a:p>
          <a:p>
            <a:pPr algn="ctr"/>
            <a:r>
              <a:rPr lang="en-US" sz="2400" dirty="0">
                <a:solidFill>
                  <a:schemeClr val="bg1"/>
                </a:solidFill>
                <a:latin typeface="Corbel Light" panose="020B0303020204020204" pitchFamily="34" charset="0"/>
              </a:rPr>
              <a:t>• Confirmation depth: more confirmations make reversal harder</a:t>
            </a:r>
          </a:p>
          <a:p>
            <a:pPr algn="ctr"/>
            <a:r>
              <a:rPr lang="en-US" sz="2400" dirty="0">
                <a:solidFill>
                  <a:schemeClr val="bg1"/>
                </a:solidFill>
                <a:latin typeface="Corbel Light" panose="020B0303020204020204" pitchFamily="34" charset="0"/>
              </a:rPr>
              <a:t>Due to these requirements, the attack is relatively uncommon.</a:t>
            </a:r>
            <a:endParaRPr lang="ar-SA" sz="2400" dirty="0">
              <a:solidFill>
                <a:schemeClr val="bg1"/>
              </a:solidFill>
              <a:latin typeface="Corbel Light" panose="020B0303020204020204" pitchFamily="34" charset="0"/>
            </a:endParaRPr>
          </a:p>
        </p:txBody>
      </p:sp>
      <p:pic>
        <p:nvPicPr>
          <p:cNvPr id="6" name="Graphic 5" descr="Laptop with solid fill">
            <a:extLst>
              <a:ext uri="{FF2B5EF4-FFF2-40B4-BE49-F238E27FC236}">
                <a16:creationId xmlns:a16="http://schemas.microsoft.com/office/drawing/2014/main" id="{EA93AA06-64BE-4549-9F34-48D4C82E053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2426" y="0"/>
            <a:ext cx="777600" cy="777600"/>
          </a:xfrm>
          <a:prstGeom prst="rect">
            <a:avLst/>
          </a:prstGeom>
        </p:spPr>
      </p:pic>
    </p:spTree>
    <p:extLst>
      <p:ext uri="{BB962C8B-B14F-4D97-AF65-F5344CB8AC3E}">
        <p14:creationId xmlns:p14="http://schemas.microsoft.com/office/powerpoint/2010/main" val="379493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2664692"/>
            <a:ext cx="1426028" cy="4107865"/>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974FB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3C574A3A-36F6-4A7C-99C2-DE3E3AC25EEC}"/>
              </a:ext>
            </a:extLst>
          </p:cNvPr>
          <p:cNvSpPr txBox="1"/>
          <p:nvPr/>
        </p:nvSpPr>
        <p:spPr>
          <a:xfrm>
            <a:off x="1996965" y="588579"/>
            <a:ext cx="7577959" cy="1323439"/>
          </a:xfrm>
          <a:prstGeom prst="rect">
            <a:avLst/>
          </a:prstGeom>
          <a:noFill/>
        </p:spPr>
        <p:txBody>
          <a:bodyPr wrap="square" rtlCol="1">
            <a:spAutoFit/>
          </a:bodyPr>
          <a:lstStyle/>
          <a:p>
            <a:r>
              <a:rPr lang="en-US" sz="4000" b="1" dirty="0">
                <a:solidFill>
                  <a:schemeClr val="bg1"/>
                </a:solidFill>
                <a:latin typeface="Bodoni MT Black" panose="02070A03080606020203" pitchFamily="18" charset="0"/>
              </a:rPr>
              <a:t>Comparison with Other Attacks</a:t>
            </a:r>
            <a:endParaRPr lang="ar-SA" sz="4000" b="1" dirty="0">
              <a:solidFill>
                <a:schemeClr val="bg1"/>
              </a:solidFill>
              <a:latin typeface="Bodoni MT Black" panose="02070A03080606020203" pitchFamily="18" charset="0"/>
            </a:endParaRPr>
          </a:p>
        </p:txBody>
      </p:sp>
      <p:sp>
        <p:nvSpPr>
          <p:cNvPr id="3" name="TextBox 2">
            <a:extLst>
              <a:ext uri="{FF2B5EF4-FFF2-40B4-BE49-F238E27FC236}">
                <a16:creationId xmlns:a16="http://schemas.microsoft.com/office/drawing/2014/main" id="{16F24470-5B9C-4880-A355-815B9B3D1E8E}"/>
              </a:ext>
            </a:extLst>
          </p:cNvPr>
          <p:cNvSpPr txBox="1"/>
          <p:nvPr/>
        </p:nvSpPr>
        <p:spPr>
          <a:xfrm>
            <a:off x="2039006" y="2863551"/>
            <a:ext cx="8113987" cy="2246769"/>
          </a:xfrm>
          <a:prstGeom prst="rect">
            <a:avLst/>
          </a:prstGeom>
          <a:noFill/>
        </p:spPr>
        <p:txBody>
          <a:bodyPr wrap="square" rtlCol="1">
            <a:spAutoFit/>
          </a:bodyPr>
          <a:lstStyle/>
          <a:p>
            <a:r>
              <a:rPr lang="en-US" sz="2000" dirty="0">
                <a:solidFill>
                  <a:schemeClr val="bg1"/>
                </a:solidFill>
                <a:latin typeface="Corbel Light" panose="020B0303020204020204" pitchFamily="34" charset="0"/>
              </a:rPr>
              <a:t>The Finney Attack can be compared with other double spending attacks:</a:t>
            </a:r>
          </a:p>
          <a:p>
            <a:endParaRPr lang="en-US" sz="2000" dirty="0">
              <a:solidFill>
                <a:schemeClr val="bg1"/>
              </a:solidFill>
              <a:latin typeface="Corbel Light" panose="020B0303020204020204" pitchFamily="34" charset="0"/>
            </a:endParaRPr>
          </a:p>
          <a:p>
            <a:r>
              <a:rPr lang="en-US" sz="2000" dirty="0">
                <a:solidFill>
                  <a:schemeClr val="bg1"/>
                </a:solidFill>
                <a:latin typeface="Corbel Light" panose="020B0303020204020204" pitchFamily="34" charset="0"/>
              </a:rPr>
              <a:t>• Race Attack: no mining required, two transactions sent simultaneously</a:t>
            </a:r>
          </a:p>
          <a:p>
            <a:r>
              <a:rPr lang="en-US" sz="2000" dirty="0">
                <a:solidFill>
                  <a:schemeClr val="bg1"/>
                </a:solidFill>
                <a:latin typeface="Corbel Light" panose="020B0303020204020204" pitchFamily="34" charset="0"/>
              </a:rPr>
              <a:t>• Finney Attack: requires mining and precise timing</a:t>
            </a:r>
          </a:p>
          <a:p>
            <a:r>
              <a:rPr lang="en-US" sz="2000" dirty="0">
                <a:solidFill>
                  <a:schemeClr val="bg1"/>
                </a:solidFill>
                <a:latin typeface="Corbel Light" panose="020B0303020204020204" pitchFamily="34" charset="0"/>
              </a:rPr>
              <a:t>• 51% Attack: requires majority hash power</a:t>
            </a:r>
          </a:p>
          <a:p>
            <a:endParaRPr lang="en-US" sz="2000" dirty="0">
              <a:solidFill>
                <a:schemeClr val="bg1"/>
              </a:solidFill>
              <a:latin typeface="Corbel Light" panose="020B0303020204020204" pitchFamily="34" charset="0"/>
            </a:endParaRPr>
          </a:p>
          <a:p>
            <a:r>
              <a:rPr lang="en-US" sz="2000" dirty="0">
                <a:solidFill>
                  <a:schemeClr val="bg1"/>
                </a:solidFill>
                <a:latin typeface="Corbel Light" panose="020B0303020204020204" pitchFamily="34" charset="0"/>
              </a:rPr>
              <a:t>This shows that the Finney Attack has moderate difficulty compared to others.</a:t>
            </a:r>
            <a:endParaRPr lang="ar-SA" sz="2000" dirty="0">
              <a:solidFill>
                <a:schemeClr val="bg1"/>
              </a:solidFill>
              <a:latin typeface="Corbel Light" panose="020B0303020204020204" pitchFamily="34" charset="0"/>
            </a:endParaRPr>
          </a:p>
        </p:txBody>
      </p:sp>
      <p:pic>
        <p:nvPicPr>
          <p:cNvPr id="6" name="Graphic 5" descr="Laptop with solid fill">
            <a:extLst>
              <a:ext uri="{FF2B5EF4-FFF2-40B4-BE49-F238E27FC236}">
                <a16:creationId xmlns:a16="http://schemas.microsoft.com/office/drawing/2014/main" id="{80FB17BF-DB9C-416E-BDD6-CF704BB7DED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2426" y="-15067"/>
            <a:ext cx="777600" cy="777600"/>
          </a:xfrm>
          <a:prstGeom prst="rect">
            <a:avLst/>
          </a:prstGeom>
        </p:spPr>
      </p:pic>
    </p:spTree>
    <p:extLst>
      <p:ext uri="{BB962C8B-B14F-4D97-AF65-F5344CB8AC3E}">
        <p14:creationId xmlns:p14="http://schemas.microsoft.com/office/powerpoint/2010/main" val="4033077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1922800"/>
            <a:ext cx="1426028" cy="4849757"/>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68367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238B1E60-7971-4B70-B765-EC9C6031A585}"/>
              </a:ext>
            </a:extLst>
          </p:cNvPr>
          <p:cNvSpPr txBox="1"/>
          <p:nvPr/>
        </p:nvSpPr>
        <p:spPr>
          <a:xfrm>
            <a:off x="2149365" y="664389"/>
            <a:ext cx="7893269" cy="1569660"/>
          </a:xfrm>
          <a:prstGeom prst="rect">
            <a:avLst/>
          </a:prstGeom>
          <a:noFill/>
        </p:spPr>
        <p:txBody>
          <a:bodyPr wrap="square" rtlCol="1">
            <a:spAutoFit/>
          </a:bodyPr>
          <a:lstStyle/>
          <a:p>
            <a:r>
              <a:rPr lang="en-US" sz="4800" b="1" dirty="0">
                <a:solidFill>
                  <a:schemeClr val="bg1"/>
                </a:solidFill>
                <a:latin typeface="Bodoni MT Black" panose="02070A03080606020203" pitchFamily="18" charset="0"/>
              </a:rPr>
              <a:t>Why This Attack Matters ?</a:t>
            </a:r>
            <a:endParaRPr lang="ar-SA" sz="4800" b="1" dirty="0">
              <a:solidFill>
                <a:schemeClr val="bg1"/>
              </a:solidFill>
              <a:latin typeface="Bodoni MT Black" panose="02070A03080606020203" pitchFamily="18" charset="0"/>
            </a:endParaRPr>
          </a:p>
        </p:txBody>
      </p:sp>
      <p:sp>
        <p:nvSpPr>
          <p:cNvPr id="4" name="TextBox 3">
            <a:extLst>
              <a:ext uri="{FF2B5EF4-FFF2-40B4-BE49-F238E27FC236}">
                <a16:creationId xmlns:a16="http://schemas.microsoft.com/office/drawing/2014/main" id="{984A75AB-DC15-466C-A0DA-C7CCA9C511B7}"/>
              </a:ext>
            </a:extLst>
          </p:cNvPr>
          <p:cNvSpPr txBox="1"/>
          <p:nvPr/>
        </p:nvSpPr>
        <p:spPr>
          <a:xfrm>
            <a:off x="1986455" y="3178036"/>
            <a:ext cx="8408276" cy="2677656"/>
          </a:xfrm>
          <a:prstGeom prst="rect">
            <a:avLst/>
          </a:prstGeom>
          <a:noFill/>
        </p:spPr>
        <p:txBody>
          <a:bodyPr wrap="square" rtlCol="1">
            <a:spAutoFit/>
          </a:bodyPr>
          <a:lstStyle/>
          <a:p>
            <a:r>
              <a:rPr lang="en-US" sz="2400" dirty="0">
                <a:solidFill>
                  <a:schemeClr val="bg1"/>
                </a:solidFill>
                <a:latin typeface="Corbel Light" panose="020B0303020204020204" pitchFamily="34" charset="0"/>
              </a:rPr>
              <a:t>The Finney Attack is rare but important because:</a:t>
            </a:r>
          </a:p>
          <a:p>
            <a:endParaRPr lang="en-US" sz="2400" dirty="0">
              <a:solidFill>
                <a:schemeClr val="bg1"/>
              </a:solidFill>
              <a:latin typeface="Corbel Light" panose="020B0303020204020204" pitchFamily="34" charset="0"/>
            </a:endParaRPr>
          </a:p>
          <a:p>
            <a:r>
              <a:rPr lang="en-US" sz="2400" dirty="0">
                <a:solidFill>
                  <a:schemeClr val="bg1"/>
                </a:solidFill>
                <a:latin typeface="Corbel Light" panose="020B0303020204020204" pitchFamily="34" charset="0"/>
              </a:rPr>
              <a:t>• Transactions are not secure until confirmed</a:t>
            </a:r>
          </a:p>
          <a:p>
            <a:r>
              <a:rPr lang="en-US" sz="2400" dirty="0">
                <a:solidFill>
                  <a:schemeClr val="bg1"/>
                </a:solidFill>
                <a:latin typeface="Corbel Light" panose="020B0303020204020204" pitchFamily="34" charset="0"/>
              </a:rPr>
              <a:t>• Fast payments can be risky</a:t>
            </a:r>
          </a:p>
          <a:p>
            <a:r>
              <a:rPr lang="en-US" sz="2400" dirty="0">
                <a:solidFill>
                  <a:schemeClr val="bg1"/>
                </a:solidFill>
                <a:latin typeface="Corbel Light" panose="020B0303020204020204" pitchFamily="34" charset="0"/>
              </a:rPr>
              <a:t>• User behavior affects security</a:t>
            </a:r>
          </a:p>
          <a:p>
            <a:endParaRPr lang="en-US" sz="2400" dirty="0">
              <a:solidFill>
                <a:schemeClr val="bg1"/>
              </a:solidFill>
              <a:latin typeface="Corbel Light" panose="020B0303020204020204" pitchFamily="34" charset="0"/>
            </a:endParaRPr>
          </a:p>
          <a:p>
            <a:r>
              <a:rPr lang="en-US" sz="2400" dirty="0">
                <a:solidFill>
                  <a:schemeClr val="bg1"/>
                </a:solidFill>
                <a:latin typeface="Corbel Light" panose="020B0303020204020204" pitchFamily="34" charset="0"/>
              </a:rPr>
              <a:t>Overall, the risk is both technical and human-related.</a:t>
            </a:r>
            <a:endParaRPr lang="ar-SA" sz="2400" dirty="0">
              <a:solidFill>
                <a:schemeClr val="bg1"/>
              </a:solidFill>
              <a:latin typeface="Corbel Light" panose="020B0303020204020204" pitchFamily="34" charset="0"/>
            </a:endParaRPr>
          </a:p>
        </p:txBody>
      </p:sp>
      <p:pic>
        <p:nvPicPr>
          <p:cNvPr id="6" name="Graphic 5" descr="Laptop with solid fill">
            <a:extLst>
              <a:ext uri="{FF2B5EF4-FFF2-40B4-BE49-F238E27FC236}">
                <a16:creationId xmlns:a16="http://schemas.microsoft.com/office/drawing/2014/main" id="{1FEF6FF9-1112-4327-BE23-46937E01222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28706" y="3300"/>
            <a:ext cx="777600" cy="777600"/>
          </a:xfrm>
          <a:prstGeom prst="rect">
            <a:avLst/>
          </a:prstGeom>
        </p:spPr>
      </p:pic>
    </p:spTree>
    <p:extLst>
      <p:ext uri="{BB962C8B-B14F-4D97-AF65-F5344CB8AC3E}">
        <p14:creationId xmlns:p14="http://schemas.microsoft.com/office/powerpoint/2010/main" val="1735387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1313318"/>
            <a:ext cx="1426028" cy="5459240"/>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4D28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2963A058-4927-4057-AC70-A7AABD755FDB}"/>
              </a:ext>
            </a:extLst>
          </p:cNvPr>
          <p:cNvSpPr txBox="1"/>
          <p:nvPr/>
        </p:nvSpPr>
        <p:spPr>
          <a:xfrm>
            <a:off x="1843062" y="675346"/>
            <a:ext cx="5801711" cy="830997"/>
          </a:xfrm>
          <a:prstGeom prst="rect">
            <a:avLst/>
          </a:prstGeom>
          <a:noFill/>
        </p:spPr>
        <p:txBody>
          <a:bodyPr wrap="square" rtlCol="1">
            <a:spAutoFit/>
          </a:bodyPr>
          <a:lstStyle/>
          <a:p>
            <a:r>
              <a:rPr lang="en-US" sz="4800" b="1" dirty="0">
                <a:solidFill>
                  <a:schemeClr val="bg1"/>
                </a:solidFill>
                <a:latin typeface="Bodoni MT Black" panose="02070A03080606020203" pitchFamily="18" charset="0"/>
              </a:rPr>
              <a:t>Security Insight</a:t>
            </a:r>
            <a:endParaRPr lang="ar-SA" sz="4800" b="1" dirty="0">
              <a:solidFill>
                <a:schemeClr val="bg1"/>
              </a:solidFill>
              <a:latin typeface="Bodoni MT Black" panose="02070A03080606020203" pitchFamily="18" charset="0"/>
            </a:endParaRPr>
          </a:p>
        </p:txBody>
      </p:sp>
      <p:sp>
        <p:nvSpPr>
          <p:cNvPr id="3" name="TextBox 2">
            <a:extLst>
              <a:ext uri="{FF2B5EF4-FFF2-40B4-BE49-F238E27FC236}">
                <a16:creationId xmlns:a16="http://schemas.microsoft.com/office/drawing/2014/main" id="{C2813820-1B13-4E6A-9F89-B4A3A0D36FE4}"/>
              </a:ext>
            </a:extLst>
          </p:cNvPr>
          <p:cNvSpPr txBox="1"/>
          <p:nvPr/>
        </p:nvSpPr>
        <p:spPr>
          <a:xfrm>
            <a:off x="1797269" y="2929493"/>
            <a:ext cx="8923284" cy="2246769"/>
          </a:xfrm>
          <a:prstGeom prst="rect">
            <a:avLst/>
          </a:prstGeom>
          <a:noFill/>
        </p:spPr>
        <p:txBody>
          <a:bodyPr wrap="square" rtlCol="1">
            <a:spAutoFit/>
          </a:bodyPr>
          <a:lstStyle/>
          <a:p>
            <a:r>
              <a:rPr lang="en-US" sz="2000" dirty="0">
                <a:solidFill>
                  <a:schemeClr val="bg1"/>
                </a:solidFill>
                <a:latin typeface="Corbel Light" panose="020B0303020204020204" pitchFamily="34" charset="0"/>
              </a:rPr>
              <a:t>The Finney Attack shows that security is not only about the system, but also user behavior.</a:t>
            </a:r>
          </a:p>
          <a:p>
            <a:endParaRPr lang="en-US" sz="2000" dirty="0">
              <a:solidFill>
                <a:schemeClr val="bg1"/>
              </a:solidFill>
              <a:latin typeface="Corbel Light" panose="020B0303020204020204" pitchFamily="34" charset="0"/>
            </a:endParaRPr>
          </a:p>
          <a:p>
            <a:r>
              <a:rPr lang="en-US" sz="2000" dirty="0">
                <a:solidFill>
                  <a:schemeClr val="bg1"/>
                </a:solidFill>
                <a:latin typeface="Corbel Light" panose="020B0303020204020204" pitchFamily="34" charset="0"/>
              </a:rPr>
              <a:t>• Technical system (Blockchain)</a:t>
            </a:r>
          </a:p>
          <a:p>
            <a:r>
              <a:rPr lang="en-US" sz="2000" dirty="0">
                <a:solidFill>
                  <a:schemeClr val="bg1"/>
                </a:solidFill>
                <a:latin typeface="Corbel Light" panose="020B0303020204020204" pitchFamily="34" charset="0"/>
              </a:rPr>
              <a:t>• User decisions (waiting or not)</a:t>
            </a:r>
          </a:p>
          <a:p>
            <a:endParaRPr lang="en-US" sz="2000" dirty="0">
              <a:solidFill>
                <a:schemeClr val="bg1"/>
              </a:solidFill>
              <a:latin typeface="Corbel Light" panose="020B0303020204020204" pitchFamily="34" charset="0"/>
            </a:endParaRPr>
          </a:p>
          <a:p>
            <a:r>
              <a:rPr lang="en-US" sz="2000" dirty="0">
                <a:solidFill>
                  <a:schemeClr val="bg1"/>
                </a:solidFill>
                <a:latin typeface="Corbel Light" panose="020B0303020204020204" pitchFamily="34" charset="0"/>
              </a:rPr>
              <a:t>Overall, security depends on the interaction between humans and the system.</a:t>
            </a:r>
            <a:endParaRPr lang="ar-SA" sz="2000" dirty="0">
              <a:solidFill>
                <a:schemeClr val="bg1"/>
              </a:solidFill>
              <a:latin typeface="Corbel Light" panose="020B0303020204020204" pitchFamily="34" charset="0"/>
            </a:endParaRPr>
          </a:p>
        </p:txBody>
      </p:sp>
      <p:pic>
        <p:nvPicPr>
          <p:cNvPr id="6" name="Graphic 5" descr="Laptop with solid fill">
            <a:extLst>
              <a:ext uri="{FF2B5EF4-FFF2-40B4-BE49-F238E27FC236}">
                <a16:creationId xmlns:a16="http://schemas.microsoft.com/office/drawing/2014/main" id="{2B9C3315-9579-4370-8758-3B6CEF561D3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28706" y="-27192"/>
            <a:ext cx="777600" cy="777600"/>
          </a:xfrm>
          <a:prstGeom prst="rect">
            <a:avLst/>
          </a:prstGeom>
        </p:spPr>
      </p:pic>
    </p:spTree>
    <p:extLst>
      <p:ext uri="{BB962C8B-B14F-4D97-AF65-F5344CB8AC3E}">
        <p14:creationId xmlns:p14="http://schemas.microsoft.com/office/powerpoint/2010/main" val="3416456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674896"/>
            <a:ext cx="1426028" cy="6097662"/>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3B1F45"/>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3B4AEA7F-2716-46E6-AFA6-87EBE99C524B}"/>
              </a:ext>
            </a:extLst>
          </p:cNvPr>
          <p:cNvSpPr txBox="1"/>
          <p:nvPr/>
        </p:nvSpPr>
        <p:spPr>
          <a:xfrm>
            <a:off x="1843062" y="674895"/>
            <a:ext cx="7346731" cy="707886"/>
          </a:xfrm>
          <a:prstGeom prst="rect">
            <a:avLst/>
          </a:prstGeom>
          <a:noFill/>
        </p:spPr>
        <p:txBody>
          <a:bodyPr wrap="square" rtlCol="1">
            <a:spAutoFit/>
          </a:bodyPr>
          <a:lstStyle/>
          <a:p>
            <a:r>
              <a:rPr lang="en-US" sz="4000" b="1" dirty="0">
                <a:solidFill>
                  <a:schemeClr val="bg1"/>
                </a:solidFill>
                <a:latin typeface="Bodoni MT Black" panose="02070A03080606020203" pitchFamily="18" charset="0"/>
              </a:rPr>
              <a:t>Prevention and Mitigation</a:t>
            </a:r>
          </a:p>
        </p:txBody>
      </p:sp>
      <p:sp>
        <p:nvSpPr>
          <p:cNvPr id="3" name="TextBox 2">
            <a:extLst>
              <a:ext uri="{FF2B5EF4-FFF2-40B4-BE49-F238E27FC236}">
                <a16:creationId xmlns:a16="http://schemas.microsoft.com/office/drawing/2014/main" id="{0D5496CE-BA1E-4BA4-AD10-2B8F45BA0137}"/>
              </a:ext>
            </a:extLst>
          </p:cNvPr>
          <p:cNvSpPr txBox="1"/>
          <p:nvPr/>
        </p:nvSpPr>
        <p:spPr>
          <a:xfrm>
            <a:off x="1842030" y="2438285"/>
            <a:ext cx="6442841" cy="3323987"/>
          </a:xfrm>
          <a:prstGeom prst="rect">
            <a:avLst/>
          </a:prstGeom>
          <a:noFill/>
        </p:spPr>
        <p:txBody>
          <a:bodyPr wrap="square" rtlCol="1">
            <a:spAutoFit/>
          </a:bodyPr>
          <a:lstStyle/>
          <a:p>
            <a:r>
              <a:rPr lang="en-US" sz="2400" b="1" dirty="0">
                <a:solidFill>
                  <a:schemeClr val="bg1"/>
                </a:solidFill>
                <a:latin typeface="Corbel Light" panose="020B0303020204020204" pitchFamily="34" charset="0"/>
              </a:rPr>
              <a:t>To reduce the risk of the Finney Attack:</a:t>
            </a:r>
          </a:p>
          <a:p>
            <a:r>
              <a:rPr lang="en-US" sz="2400" b="1" dirty="0">
                <a:solidFill>
                  <a:schemeClr val="bg1"/>
                </a:solidFill>
                <a:latin typeface="Corbel Light" panose="020B0303020204020204" pitchFamily="34" charset="0"/>
              </a:rPr>
              <a:t>• Wait for transaction confirmations</a:t>
            </a:r>
          </a:p>
          <a:p>
            <a:r>
              <a:rPr lang="en-US" sz="2400" b="1" dirty="0">
                <a:solidFill>
                  <a:schemeClr val="bg1"/>
                </a:solidFill>
                <a:latin typeface="Corbel Light" panose="020B0303020204020204" pitchFamily="34" charset="0"/>
              </a:rPr>
              <a:t>• Avoid zero-confirmation payments</a:t>
            </a:r>
          </a:p>
          <a:p>
            <a:r>
              <a:rPr lang="en-US" sz="2400" b="1" dirty="0">
                <a:solidFill>
                  <a:schemeClr val="bg1"/>
                </a:solidFill>
                <a:latin typeface="Corbel Light" panose="020B0303020204020204" pitchFamily="34" charset="0"/>
              </a:rPr>
              <a:t>• Use solutions like the Lightning Network</a:t>
            </a:r>
          </a:p>
          <a:p>
            <a:r>
              <a:rPr lang="en-US" sz="2400" b="1" dirty="0">
                <a:solidFill>
                  <a:schemeClr val="bg1"/>
                </a:solidFill>
                <a:latin typeface="Corbel Light" panose="020B0303020204020204" pitchFamily="34" charset="0"/>
              </a:rPr>
              <a:t>• Monitor network activity</a:t>
            </a:r>
          </a:p>
          <a:p>
            <a:endParaRPr lang="en-US" sz="2400" b="1" dirty="0">
              <a:solidFill>
                <a:schemeClr val="bg1"/>
              </a:solidFill>
              <a:latin typeface="Corbel Light" panose="020B0303020204020204" pitchFamily="34" charset="0"/>
            </a:endParaRPr>
          </a:p>
          <a:p>
            <a:r>
              <a:rPr lang="en-US" sz="2400" b="1" dirty="0">
                <a:solidFill>
                  <a:schemeClr val="bg1"/>
                </a:solidFill>
                <a:latin typeface="Corbel Light" panose="020B0303020204020204" pitchFamily="34" charset="0"/>
              </a:rPr>
              <a:t>Overall, protection depends on both technology and user awareness.</a:t>
            </a:r>
            <a:endParaRPr lang="ar-SA" sz="2400" b="1" dirty="0">
              <a:solidFill>
                <a:schemeClr val="bg1"/>
              </a:solidFill>
              <a:latin typeface="Corbel Light" panose="020B0303020204020204" pitchFamily="34" charset="0"/>
            </a:endParaRPr>
          </a:p>
          <a:p>
            <a:endParaRPr lang="ar-SA" dirty="0"/>
          </a:p>
        </p:txBody>
      </p:sp>
      <p:pic>
        <p:nvPicPr>
          <p:cNvPr id="6" name="Graphic 5" descr="Laptop with solid fill">
            <a:extLst>
              <a:ext uri="{FF2B5EF4-FFF2-40B4-BE49-F238E27FC236}">
                <a16:creationId xmlns:a16="http://schemas.microsoft.com/office/drawing/2014/main" id="{A2FF4C65-DA34-4FE8-89B2-909D99176FF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25993" y="-40467"/>
            <a:ext cx="777600" cy="777600"/>
          </a:xfrm>
          <a:prstGeom prst="rect">
            <a:avLst/>
          </a:prstGeom>
        </p:spPr>
      </p:pic>
    </p:spTree>
    <p:extLst>
      <p:ext uri="{BB962C8B-B14F-4D97-AF65-F5344CB8AC3E}">
        <p14:creationId xmlns:p14="http://schemas.microsoft.com/office/powerpoint/2010/main" val="569816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A210A1A-303C-438B-8AC3-96A95CD1BB05}"/>
              </a:ext>
            </a:extLst>
          </p:cNvPr>
          <p:cNvSpPr/>
          <p:nvPr/>
        </p:nvSpPr>
        <p:spPr>
          <a:xfrm>
            <a:off x="58649" y="70757"/>
            <a:ext cx="1426029" cy="671648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0" name="Rectangle: Rounded Corners 29">
            <a:extLst>
              <a:ext uri="{FF2B5EF4-FFF2-40B4-BE49-F238E27FC236}">
                <a16:creationId xmlns:a16="http://schemas.microsoft.com/office/drawing/2014/main" id="{9192DA55-52D2-430C-B426-A3F73E749393}"/>
              </a:ext>
            </a:extLst>
          </p:cNvPr>
          <p:cNvSpPr/>
          <p:nvPr/>
        </p:nvSpPr>
        <p:spPr>
          <a:xfrm>
            <a:off x="58650" y="56072"/>
            <a:ext cx="1426028" cy="6716486"/>
          </a:xfrm>
          <a:prstGeom prst="roundRect">
            <a:avLst>
              <a:gd name="adj" fmla="val 1389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7" name="Graphic 6" descr="Chevron arrows with solid fill">
            <a:extLst>
              <a:ext uri="{FF2B5EF4-FFF2-40B4-BE49-F238E27FC236}">
                <a16:creationId xmlns:a16="http://schemas.microsoft.com/office/drawing/2014/main" id="{7AC42E96-24B5-480D-980F-36E9D65D59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097" y="6137481"/>
            <a:ext cx="641131" cy="641131"/>
          </a:xfrm>
          <a:prstGeom prst="rect">
            <a:avLst/>
          </a:prstGeom>
        </p:spPr>
      </p:pic>
      <p:pic>
        <p:nvPicPr>
          <p:cNvPr id="9" name="Graphic 8" descr="Lightbulb with solid fill">
            <a:extLst>
              <a:ext uri="{FF2B5EF4-FFF2-40B4-BE49-F238E27FC236}">
                <a16:creationId xmlns:a16="http://schemas.microsoft.com/office/drawing/2014/main" id="{C68F4A30-C6D1-42CE-B779-4D2BCFEB3D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560" y="5211255"/>
            <a:ext cx="756746" cy="756746"/>
          </a:xfrm>
          <a:prstGeom prst="rect">
            <a:avLst/>
          </a:prstGeom>
        </p:spPr>
      </p:pic>
      <p:pic>
        <p:nvPicPr>
          <p:cNvPr id="11" name="Graphic 10" descr="Single gear with solid fill">
            <a:extLst>
              <a:ext uri="{FF2B5EF4-FFF2-40B4-BE49-F238E27FC236}">
                <a16:creationId xmlns:a16="http://schemas.microsoft.com/office/drawing/2014/main" id="{D3E913B2-C67D-4F8F-A126-2200205E20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9560" y="4291129"/>
            <a:ext cx="758435" cy="758435"/>
          </a:xfrm>
          <a:prstGeom prst="rect">
            <a:avLst/>
          </a:prstGeom>
        </p:spPr>
      </p:pic>
      <p:pic>
        <p:nvPicPr>
          <p:cNvPr id="13" name="Graphic 12" descr="Research with solid fill">
            <a:extLst>
              <a:ext uri="{FF2B5EF4-FFF2-40B4-BE49-F238E27FC236}">
                <a16:creationId xmlns:a16="http://schemas.microsoft.com/office/drawing/2014/main" id="{DDA3355F-C629-46B8-816D-5D305032D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9560" y="3429000"/>
            <a:ext cx="777766" cy="777766"/>
          </a:xfrm>
          <a:prstGeom prst="rect">
            <a:avLst/>
          </a:prstGeom>
        </p:spPr>
      </p:pic>
      <p:pic>
        <p:nvPicPr>
          <p:cNvPr id="15" name="Graphic 14" descr="Venn diagram with solid fill">
            <a:extLst>
              <a:ext uri="{FF2B5EF4-FFF2-40B4-BE49-F238E27FC236}">
                <a16:creationId xmlns:a16="http://schemas.microsoft.com/office/drawing/2014/main" id="{47F5539D-A1F4-4C86-B3E2-8D7FB0F460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650" y="2591782"/>
            <a:ext cx="777766" cy="777766"/>
          </a:xfrm>
          <a:prstGeom prst="rect">
            <a:avLst/>
          </a:prstGeom>
        </p:spPr>
      </p:pic>
      <p:pic>
        <p:nvPicPr>
          <p:cNvPr id="23" name="Graphic 22" descr="Star with solid fill">
            <a:extLst>
              <a:ext uri="{FF2B5EF4-FFF2-40B4-BE49-F238E27FC236}">
                <a16:creationId xmlns:a16="http://schemas.microsoft.com/office/drawing/2014/main" id="{B9490473-89B8-4B82-BC68-8B674045CD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9560" y="1934226"/>
            <a:ext cx="730466" cy="730466"/>
          </a:xfrm>
          <a:prstGeom prst="rect">
            <a:avLst/>
          </a:prstGeom>
        </p:spPr>
      </p:pic>
      <p:pic>
        <p:nvPicPr>
          <p:cNvPr id="25" name="Graphic 24" descr="Eye with solid fill">
            <a:extLst>
              <a:ext uri="{FF2B5EF4-FFF2-40B4-BE49-F238E27FC236}">
                <a16:creationId xmlns:a16="http://schemas.microsoft.com/office/drawing/2014/main" id="{06425403-AA25-47F7-A907-E181529F8B7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145" y="1321948"/>
            <a:ext cx="664776" cy="664776"/>
          </a:xfrm>
          <a:prstGeom prst="rect">
            <a:avLst/>
          </a:prstGeom>
        </p:spPr>
      </p:pic>
      <p:pic>
        <p:nvPicPr>
          <p:cNvPr id="27" name="Graphic 26" descr="Lock with solid fill">
            <a:extLst>
              <a:ext uri="{FF2B5EF4-FFF2-40B4-BE49-F238E27FC236}">
                <a16:creationId xmlns:a16="http://schemas.microsoft.com/office/drawing/2014/main" id="{7CB310A4-6367-4BD2-B533-9E99EBD98D8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9936" y="664389"/>
            <a:ext cx="664779" cy="664779"/>
          </a:xfrm>
          <a:prstGeom prst="rect">
            <a:avLst/>
          </a:prstGeom>
        </p:spPr>
      </p:pic>
      <p:sp>
        <p:nvSpPr>
          <p:cNvPr id="31" name="Rectangle: Rounded Corners 30">
            <a:extLst>
              <a:ext uri="{FF2B5EF4-FFF2-40B4-BE49-F238E27FC236}">
                <a16:creationId xmlns:a16="http://schemas.microsoft.com/office/drawing/2014/main" id="{C49ABC7A-2DB9-4149-A9E7-A0056F53604D}"/>
              </a:ext>
            </a:extLst>
          </p:cNvPr>
          <p:cNvSpPr/>
          <p:nvPr/>
        </p:nvSpPr>
        <p:spPr>
          <a:xfrm>
            <a:off x="1797269" y="83193"/>
            <a:ext cx="9935095" cy="6716486"/>
          </a:xfrm>
          <a:prstGeom prst="roundRect">
            <a:avLst/>
          </a:prstGeom>
          <a:solidFill>
            <a:srgbClr val="341C3C"/>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TextBox 1">
            <a:extLst>
              <a:ext uri="{FF2B5EF4-FFF2-40B4-BE49-F238E27FC236}">
                <a16:creationId xmlns:a16="http://schemas.microsoft.com/office/drawing/2014/main" id="{D129801E-8250-4E3D-AA0C-E59A390F18EC}"/>
              </a:ext>
            </a:extLst>
          </p:cNvPr>
          <p:cNvSpPr txBox="1"/>
          <p:nvPr/>
        </p:nvSpPr>
        <p:spPr>
          <a:xfrm>
            <a:off x="2039007" y="731006"/>
            <a:ext cx="4882493" cy="923330"/>
          </a:xfrm>
          <a:prstGeom prst="rect">
            <a:avLst/>
          </a:prstGeom>
          <a:noFill/>
        </p:spPr>
        <p:txBody>
          <a:bodyPr wrap="square" rtlCol="1">
            <a:spAutoFit/>
          </a:bodyPr>
          <a:lstStyle/>
          <a:p>
            <a:r>
              <a:rPr lang="en-US" sz="5400" dirty="0">
                <a:solidFill>
                  <a:schemeClr val="bg1"/>
                </a:solidFill>
                <a:latin typeface="Bodoni MT Black" panose="02070A03080606020203" pitchFamily="18" charset="0"/>
                <a:cs typeface="+mj-cs"/>
              </a:rPr>
              <a:t>Simulation</a:t>
            </a:r>
            <a:endParaRPr lang="ar-SA" sz="5400" b="1" dirty="0">
              <a:solidFill>
                <a:schemeClr val="bg1"/>
              </a:solidFill>
              <a:latin typeface="Bodoni MT Black" panose="02070A03080606020203" pitchFamily="18" charset="0"/>
              <a:cs typeface="+mj-cs"/>
            </a:endParaRPr>
          </a:p>
        </p:txBody>
      </p:sp>
      <p:sp>
        <p:nvSpPr>
          <p:cNvPr id="3" name="TextBox 2">
            <a:extLst>
              <a:ext uri="{FF2B5EF4-FFF2-40B4-BE49-F238E27FC236}">
                <a16:creationId xmlns:a16="http://schemas.microsoft.com/office/drawing/2014/main" id="{DF5F0A70-6C17-4BE4-AC76-C4B2100216AF}"/>
              </a:ext>
            </a:extLst>
          </p:cNvPr>
          <p:cNvSpPr txBox="1"/>
          <p:nvPr/>
        </p:nvSpPr>
        <p:spPr>
          <a:xfrm>
            <a:off x="2039007" y="3327460"/>
            <a:ext cx="7940127" cy="2492990"/>
          </a:xfrm>
          <a:prstGeom prst="rect">
            <a:avLst/>
          </a:prstGeom>
          <a:noFill/>
        </p:spPr>
        <p:txBody>
          <a:bodyPr wrap="square" rtlCol="1">
            <a:spAutoFit/>
          </a:bodyPr>
          <a:lstStyle/>
          <a:p>
            <a:endParaRPr lang="en-US" dirty="0">
              <a:solidFill>
                <a:schemeClr val="bg1"/>
              </a:solidFill>
            </a:endParaRPr>
          </a:p>
          <a:p>
            <a:r>
              <a:rPr lang="en-US" sz="2400" dirty="0">
                <a:solidFill>
                  <a:schemeClr val="bg1"/>
                </a:solidFill>
                <a:latin typeface="Corbel Light" panose="020B0303020204020204" pitchFamily="34" charset="0"/>
              </a:rPr>
              <a:t>A simple Python simulation demonstrates the Finney Attack using a basic blockchain model, showing how hidden blocks enable double spending and how merchants can lose payments when accepting unconfirmed transactions, making the concept easier to understand.</a:t>
            </a:r>
          </a:p>
          <a:p>
            <a:endParaRPr lang="ar-SA" dirty="0">
              <a:solidFill>
                <a:schemeClr val="bg1"/>
              </a:solidFill>
            </a:endParaRPr>
          </a:p>
        </p:txBody>
      </p:sp>
      <p:pic>
        <p:nvPicPr>
          <p:cNvPr id="6" name="Graphic 5" descr="Laptop with solid fill">
            <a:extLst>
              <a:ext uri="{FF2B5EF4-FFF2-40B4-BE49-F238E27FC236}">
                <a16:creationId xmlns:a16="http://schemas.microsoft.com/office/drawing/2014/main" id="{2253A41F-8091-4873-8DFB-8DD99A5F8A7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9133" y="0"/>
            <a:ext cx="777600" cy="777600"/>
          </a:xfrm>
          <a:prstGeom prst="rect">
            <a:avLst/>
          </a:prstGeom>
        </p:spPr>
      </p:pic>
    </p:spTree>
    <p:extLst>
      <p:ext uri="{BB962C8B-B14F-4D97-AF65-F5344CB8AC3E}">
        <p14:creationId xmlns:p14="http://schemas.microsoft.com/office/powerpoint/2010/main" val="33076829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DB23FDB-5A3A-4B1F-918B-8DCFB098B09C}"/>
              </a:ext>
            </a:extLst>
          </p:cNvPr>
          <p:cNvSpPr/>
          <p:nvPr/>
        </p:nvSpPr>
        <p:spPr>
          <a:xfrm>
            <a:off x="0" y="0"/>
            <a:ext cx="12192000" cy="6858000"/>
          </a:xfrm>
          <a:prstGeom prst="roundRect">
            <a:avLst>
              <a:gd name="adj" fmla="val 9649"/>
            </a:avLst>
          </a:prstGeom>
          <a:solidFill>
            <a:srgbClr val="341C3C"/>
          </a:solidFill>
        </p:spPr>
        <p:style>
          <a:lnRef idx="2">
            <a:schemeClr val="dk1">
              <a:shade val="50000"/>
            </a:schemeClr>
          </a:lnRef>
          <a:fillRef idx="1">
            <a:schemeClr val="dk1"/>
          </a:fillRef>
          <a:effectRef idx="0">
            <a:schemeClr val="dk1"/>
          </a:effectRef>
          <a:fontRef idx="minor">
            <a:schemeClr val="lt1"/>
          </a:fontRef>
        </p:style>
        <p:txBody>
          <a:bodyPr rtlCol="1" anchor="ctr"/>
          <a:lstStyle/>
          <a:p>
            <a:pPr algn="ctr"/>
            <a:endParaRPr lang="ar-SA"/>
          </a:p>
        </p:txBody>
      </p:sp>
      <p:grpSp>
        <p:nvGrpSpPr>
          <p:cNvPr id="2" name="Group 1">
            <a:extLst>
              <a:ext uri="{FF2B5EF4-FFF2-40B4-BE49-F238E27FC236}">
                <a16:creationId xmlns:a16="http://schemas.microsoft.com/office/drawing/2014/main" id="{D1B026B4-EE9B-46BD-9CF0-97C57668C2D5}"/>
              </a:ext>
            </a:extLst>
          </p:cNvPr>
          <p:cNvGrpSpPr/>
          <p:nvPr/>
        </p:nvGrpSpPr>
        <p:grpSpPr>
          <a:xfrm>
            <a:off x="0" y="199724"/>
            <a:ext cx="11803781" cy="6458552"/>
            <a:chOff x="0" y="199724"/>
            <a:chExt cx="11803781" cy="6458552"/>
          </a:xfrm>
        </p:grpSpPr>
        <p:sp>
          <p:nvSpPr>
            <p:cNvPr id="6" name="Rectangle: Rounded Corners 5">
              <a:extLst>
                <a:ext uri="{FF2B5EF4-FFF2-40B4-BE49-F238E27FC236}">
                  <a16:creationId xmlns:a16="http://schemas.microsoft.com/office/drawing/2014/main" id="{ADC867A0-4DEE-4F85-B120-D295CE6D0A10}"/>
                </a:ext>
              </a:extLst>
            </p:cNvPr>
            <p:cNvSpPr/>
            <p:nvPr/>
          </p:nvSpPr>
          <p:spPr>
            <a:xfrm>
              <a:off x="388219" y="199724"/>
              <a:ext cx="11415562" cy="6458552"/>
            </a:xfrm>
            <a:prstGeom prst="roundRect">
              <a:avLst/>
            </a:prstGeom>
            <a:ln w="57150">
              <a:solidFill>
                <a:srgbClr val="CAA5D7"/>
              </a:solidFill>
            </a:ln>
          </p:spPr>
          <p:style>
            <a:lnRef idx="2">
              <a:schemeClr val="accent6"/>
            </a:lnRef>
            <a:fillRef idx="1">
              <a:schemeClr val="lt1"/>
            </a:fillRef>
            <a:effectRef idx="0">
              <a:schemeClr val="accent6"/>
            </a:effectRef>
            <a:fontRef idx="minor">
              <a:schemeClr val="dk1"/>
            </a:fontRef>
          </p:style>
          <p:txBody>
            <a:bodyPr rtlCol="1" anchor="ctr"/>
            <a:lstStyle/>
            <a:p>
              <a:pPr algn="ctr"/>
              <a:endParaRPr lang="ar-SA"/>
            </a:p>
          </p:txBody>
        </p:sp>
        <p:sp>
          <p:nvSpPr>
            <p:cNvPr id="7" name="TextBox 6">
              <a:extLst>
                <a:ext uri="{FF2B5EF4-FFF2-40B4-BE49-F238E27FC236}">
                  <a16:creationId xmlns:a16="http://schemas.microsoft.com/office/drawing/2014/main" id="{298B713C-C38E-4E5E-AF26-56F8C1F42922}"/>
                </a:ext>
              </a:extLst>
            </p:cNvPr>
            <p:cNvSpPr txBox="1"/>
            <p:nvPr/>
          </p:nvSpPr>
          <p:spPr>
            <a:xfrm>
              <a:off x="3402329" y="946273"/>
              <a:ext cx="4138863" cy="923330"/>
            </a:xfrm>
            <a:prstGeom prst="rect">
              <a:avLst/>
            </a:prstGeom>
            <a:noFill/>
          </p:spPr>
          <p:txBody>
            <a:bodyPr wrap="square" rtlCol="1">
              <a:spAutoFit/>
            </a:bodyPr>
            <a:lstStyle/>
            <a:p>
              <a:r>
                <a:rPr lang="en-US" sz="5400" dirty="0">
                  <a:solidFill>
                    <a:srgbClr val="3B1F45"/>
                  </a:solidFill>
                  <a:latin typeface="Bodoni MT Black" panose="02070A03080606020203" pitchFamily="18" charset="0"/>
                </a:rPr>
                <a:t>Conclusion</a:t>
              </a:r>
              <a:endParaRPr lang="ar-SA" dirty="0">
                <a:solidFill>
                  <a:srgbClr val="3B1F45"/>
                </a:solidFill>
                <a:latin typeface="Bodoni MT Black" panose="02070A03080606020203" pitchFamily="18" charset="0"/>
              </a:endParaRPr>
            </a:p>
          </p:txBody>
        </p:sp>
        <p:sp>
          <p:nvSpPr>
            <p:cNvPr id="8" name="TextBox 7">
              <a:extLst>
                <a:ext uri="{FF2B5EF4-FFF2-40B4-BE49-F238E27FC236}">
                  <a16:creationId xmlns:a16="http://schemas.microsoft.com/office/drawing/2014/main" id="{AB7A70AF-D480-4674-9992-A49E30DEE162}"/>
                </a:ext>
              </a:extLst>
            </p:cNvPr>
            <p:cNvSpPr txBox="1"/>
            <p:nvPr/>
          </p:nvSpPr>
          <p:spPr>
            <a:xfrm>
              <a:off x="3402329" y="3373095"/>
              <a:ext cx="7796463" cy="1323439"/>
            </a:xfrm>
            <a:prstGeom prst="rect">
              <a:avLst/>
            </a:prstGeom>
            <a:noFill/>
          </p:spPr>
          <p:txBody>
            <a:bodyPr wrap="square" rtlCol="1">
              <a:spAutoFit/>
            </a:bodyPr>
            <a:lstStyle/>
            <a:p>
              <a:r>
                <a:rPr lang="en-US" sz="2000" dirty="0">
                  <a:solidFill>
                    <a:srgbClr val="3B1F45"/>
                  </a:solidFill>
                  <a:latin typeface="Corbel Light" panose="020B0303020204020204" pitchFamily="34" charset="0"/>
                </a:rPr>
                <a:t>The Finney Attack shows that blockchain security depends on both technology and user behavior. While Bitcoin is secure after confirmations, delays can be exploited if users trust instant payments. Overall, security depends on how users interact with the system.</a:t>
              </a:r>
              <a:endParaRPr lang="ar-SA" sz="2000" dirty="0">
                <a:solidFill>
                  <a:srgbClr val="3B1F45"/>
                </a:solidFill>
                <a:latin typeface="Corbel Light" panose="020B0303020204020204" pitchFamily="34" charset="0"/>
              </a:endParaRPr>
            </a:p>
          </p:txBody>
        </p:sp>
        <p:pic>
          <p:nvPicPr>
            <p:cNvPr id="10" name="Graphic 9" descr="Clipboard with solid fill">
              <a:extLst>
                <a:ext uri="{FF2B5EF4-FFF2-40B4-BE49-F238E27FC236}">
                  <a16:creationId xmlns:a16="http://schemas.microsoft.com/office/drawing/2014/main" id="{1D6A7F89-45D6-4D01-8F24-ED52EAF9D5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145997"/>
              <a:ext cx="3811204" cy="4112394"/>
            </a:xfrm>
            <a:prstGeom prst="rect">
              <a:avLst/>
            </a:prstGeom>
          </p:spPr>
        </p:pic>
      </p:grpSp>
    </p:spTree>
    <p:extLst>
      <p:ext uri="{BB962C8B-B14F-4D97-AF65-F5344CB8AC3E}">
        <p14:creationId xmlns:p14="http://schemas.microsoft.com/office/powerpoint/2010/main" val="1970743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531</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Bodoni MT Black</vt:lpstr>
      <vt:lpstr>Bodoni MT Condensed</vt:lpstr>
      <vt:lpstr>Calibri</vt:lpstr>
      <vt:lpstr>Calibri Light</vt:lpstr>
      <vt:lpstr>Corbel Light</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abood gaming</dc:creator>
  <cp:lastModifiedBy>abood gaming</cp:lastModifiedBy>
  <cp:revision>17</cp:revision>
  <dcterms:created xsi:type="dcterms:W3CDTF">2026-04-12T11:22:25Z</dcterms:created>
  <dcterms:modified xsi:type="dcterms:W3CDTF">2026-04-15T10:45:00Z</dcterms:modified>
</cp:coreProperties>
</file>